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42e72e87d94c84" /><Relationship Type="http://schemas.openxmlformats.org/officeDocument/2006/relationships/extended-properties" Target="/docProps/app.xml" Id="R2359b20fca5a47fa" /><Relationship Type="http://schemas.openxmlformats.org/officeDocument/2006/relationships/officeDocument" Target="/ppt/presentation.xml" Id="R5ae8d7f8484b4139" /></Relationships>
</file>

<file path=ppt/presentation.xml><?xml version="1.0" encoding="utf-8"?>
<p:presentation xmlns:p="http://schemas.openxmlformats.org/presentationml/2006/main">
  <p:sldMasterIdLst>
    <p:sldMasterId xmlns:r="http://schemas.openxmlformats.org/officeDocument/2006/relationships" id="2147483648" r:id="Rc43d8c73eb2b45ee"/>
  </p:sldMasterIdLst>
  <p:notesMasterIdLst>
    <p:notesMasterId xmlns:r="http://schemas.openxmlformats.org/officeDocument/2006/relationships" r:id="Rf88967dc4b8f4cbc"/>
  </p:notesMasterIdLst>
  <p:sldIdLst>
    <p:sldId xmlns:r="http://schemas.openxmlformats.org/officeDocument/2006/relationships" id="256" r:id="R35788c828f5741d1"/>
    <p:sldId xmlns:r="http://schemas.openxmlformats.org/officeDocument/2006/relationships" id="257" r:id="R5cdfd7282b0048af"/>
    <p:sldId xmlns:r="http://schemas.openxmlformats.org/officeDocument/2006/relationships" id="258" r:id="R1ade08280bb14548"/>
    <p:sldId xmlns:r="http://schemas.openxmlformats.org/officeDocument/2006/relationships" id="259" r:id="Rb689251796f84c7c"/>
    <p:sldId xmlns:r="http://schemas.openxmlformats.org/officeDocument/2006/relationships" id="260" r:id="Rd236959b108b4afe"/>
    <p:sldId xmlns:r="http://schemas.openxmlformats.org/officeDocument/2006/relationships" id="261" r:id="R9fb8d99705e04df1"/>
    <p:sldId xmlns:r="http://schemas.openxmlformats.org/officeDocument/2006/relationships" id="262" r:id="Rfdf3b58e5898464b"/>
    <p:sldId xmlns:r="http://schemas.openxmlformats.org/officeDocument/2006/relationships" id="263" r:id="Rfe2fbdb7536c4fae"/>
    <p:sldId xmlns:r="http://schemas.openxmlformats.org/officeDocument/2006/relationships" id="264" r:id="R8a592754046e4b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5a4f6a909b45b0" /><Relationship Type="http://schemas.openxmlformats.org/officeDocument/2006/relationships/slideMaster" Target="/ppt/slideMasters/slideMaster1.xml" Id="Rc43d8c73eb2b45ee" /><Relationship Type="http://schemas.openxmlformats.org/officeDocument/2006/relationships/notesMaster" Target="/ppt/notesMasters/notesMaster1.xml" Id="Rf88967dc4b8f4cbc" /><Relationship Type="http://schemas.openxmlformats.org/officeDocument/2006/relationships/presProps" Target="/ppt/presProps.xml" Id="R95ae4ef95fd9424e" /><Relationship Type="http://schemas.openxmlformats.org/officeDocument/2006/relationships/tableStyles" Target="/ppt/tableStyles.xml" Id="Rad5c7ddaf8154a68" /><Relationship Type="http://schemas.openxmlformats.org/officeDocument/2006/relationships/slide" Target="/ppt/slides/slide1.xml" Id="R35788c828f5741d1" /><Relationship Type="http://schemas.openxmlformats.org/officeDocument/2006/relationships/slide" Target="/ppt/slides/slide2.xml" Id="R5cdfd7282b0048af" /><Relationship Type="http://schemas.openxmlformats.org/officeDocument/2006/relationships/slide" Target="/ppt/slides/slide3.xml" Id="R1ade08280bb14548" /><Relationship Type="http://schemas.openxmlformats.org/officeDocument/2006/relationships/slide" Target="/ppt/slides/slide4.xml" Id="Rb689251796f84c7c" /><Relationship Type="http://schemas.openxmlformats.org/officeDocument/2006/relationships/slide" Target="/ppt/slides/slide5.xml" Id="Rd236959b108b4afe" /><Relationship Type="http://schemas.openxmlformats.org/officeDocument/2006/relationships/slide" Target="/ppt/slides/slide6.xml" Id="R9fb8d99705e04df1" /><Relationship Type="http://schemas.openxmlformats.org/officeDocument/2006/relationships/slide" Target="/ppt/slides/slide7.xml" Id="Rfdf3b58e5898464b" /><Relationship Type="http://schemas.openxmlformats.org/officeDocument/2006/relationships/slide" Target="/ppt/slides/slide8.xml" Id="Rfe2fbdb7536c4fae" /><Relationship Type="http://schemas.openxmlformats.org/officeDocument/2006/relationships/slide" Target="/ppt/slides/slide9.xml" Id="R8a592754046e4b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bbf78bfa0d45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16437e33f0434a" /><Relationship Type="http://schemas.openxmlformats.org/officeDocument/2006/relationships/notesMaster" Target="/ppt/notesMasters/notesMaster1.xml" Id="R922d76bd1a7d4f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8b5594bc0c46b1" /><Relationship Type="http://schemas.openxmlformats.org/officeDocument/2006/relationships/notesMaster" Target="/ppt/notesMasters/notesMaster1.xml" Id="Re2beb5b26a414e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b8e5af84174c09" /><Relationship Type="http://schemas.openxmlformats.org/officeDocument/2006/relationships/notesMaster" Target="/ppt/notesMasters/notesMaster1.xml" Id="Redbcf0f782bb42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f2e5cf63dc4b73" /><Relationship Type="http://schemas.openxmlformats.org/officeDocument/2006/relationships/notesMaster" Target="/ppt/notesMasters/notesMaster1.xml" Id="R5001c9d4b14840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d9535bdb2447b8" /><Relationship Type="http://schemas.openxmlformats.org/officeDocument/2006/relationships/notesMaster" Target="/ppt/notesMasters/notesMaster1.xml" Id="R76a81d5cb7d048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fd815aeb6548c1" /><Relationship Type="http://schemas.openxmlformats.org/officeDocument/2006/relationships/notesMaster" Target="/ppt/notesMasters/notesMaster1.xml" Id="R2093f32ca94541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576b31408f479e" /><Relationship Type="http://schemas.openxmlformats.org/officeDocument/2006/relationships/notesMaster" Target="/ppt/notesMasters/notesMaster1.xml" Id="R05b42af7522048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10b3e09bc24bf4" /><Relationship Type="http://schemas.openxmlformats.org/officeDocument/2006/relationships/notesMaster" Target="/ppt/notesMasters/notesMaster1.xml" Id="R5a3c41e9db9540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1ce49a1c6547e7" /><Relationship Type="http://schemas.openxmlformats.org/officeDocument/2006/relationships/notesMaster" Target="/ppt/notesMasters/notesMaster1.xml" Id="R67f1c9cb0af14f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faculty Project 2. We have one local broker pilot and a research question, not a completed security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MQTT 5.0 allows persistent sessions. Offline QoS 1 delivery is valuable to devices with unreliable links. The research question is when the state becomes costly and whether a policy can respond without harming ordinary recovery. Source: OASIS MQTT 5.0, https://docs.oasis-open.org/mqtt/mqtt/v5.0/os/mqtt-v5.0-os.html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subscribers create sessions with Session Expiry Interval 120 seconds, subscribe at QoS 1, and disconnect. A separate publisher sends five QoS 1 messages. Subscribers reconnect with the same Client IDs. Clean-session control uses expiry 0. Source: OASIS MQTT 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MBFuzzer is the closest prior work: Xiangpu Song et al., USENIX Security 2025, https://www.usenix.org/conference/usenixsecurity25/presentation/song-xiangpu. ProtocolGuard: NDSS 2026, https://www.ndss-symposium.org/wp-content/uploads/2026-f521-paper.pdf. MQTT-I: IEEE TDSC 2024, https://iris.unirc.it/handle/20.500.12318/142287. SIMMS: IEEE TETC 2026, https://xplorestaging.ieee.org/document/11480700/.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Mosquitto 2.1.2 in Docker, bound to 127.0.0.1:18883. Python 3.12 and paho-mqtt 2.1.0. Three subscribers, five QoS 1 publications, 120-second durable expiry or zero-second clean expiry. Compare max_queued_messages 1000 and 3. Raw results are saved in evidence/baseline.json and evidence/capped.json. Broker configuration source: https://mosquitto.org/man/mosquitto-conf-5.html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on 18 October 2026. Baseline JSON run 51ea69f8 and capped JSON run e11b7664. Normal online delivery passed in both. Clean sessions recovered 0/5 per client in both. Durable sessions recovered 5/5 with cap 1000 and 3/5 with cap 3. $SYS store count changed 56-&gt;61 and 56-&gt;59. Store count is broker-level, not sum of per-client deliveries.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hypotheses, not implemented defenses. Each needs finer per-client state than the aggregate $SYS counters. A legitimate outage can look like accumulation, so false interventions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broker and a tiny single run per configuration. Docker stats were point samples of approximately 2.8 to 3.1 MiB, not peak or statistically reliable performance measurements. We have not implemented an intervention, measured false positives, or tested a second broker. The correct classification today is spec-compliant and configuration-dependent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a state-aware runtime policy and an evaluation against passive monitoring and native broker limits. We will measure prevention, false interventions, legitimate delivery, peak CPU/memory, and latency over repeated loads. We ask whether persistent-session pressure is an acceptable first interaction category. CLA-3 individual topics remain for member approval before 22 October; no sheet entry has been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9c4edf9ce04c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a20153b07945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dd964f319c49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1572d709e743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9882b2595f48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abc17f041c4d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FB1475-4E8E-4470-900D-2BBD52AEE6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9524EB-62E4-4898-9D35-234E7105A1B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2AC381-F6D3-4D15-A155-8BA97E49D6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750DEE-A550-4DAA-A3CA-8FF4DD01CA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7E5F76-C7BE-47A2-AF2A-B7571BBE30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D07735-515F-49B8-A3AE-7228165C1A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DC74DC-8484-45B9-940B-C5EFBFCF78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3220F1-BE7A-45FA-BC91-598E598DC2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3D5981-98FD-492D-BE6E-7ED35A6DD3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62737C-E685-410F-BA3B-1AA17BA88C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3a081f080d4a44" /><Relationship Type="http://schemas.openxmlformats.org/officeDocument/2006/relationships/slideLayout" Target="/ppt/slideLayouts/slideLayout1.xml" Id="Rfbc91485fbd64257" /><Relationship Type="http://schemas.openxmlformats.org/officeDocument/2006/relationships/slideLayout" Target="/ppt/slideLayouts/slideLayout2.xml" Id="Rd5d8f8a4ea3347e8" /><Relationship Type="http://schemas.openxmlformats.org/officeDocument/2006/relationships/slideLayout" Target="/ppt/slideLayouts/slideLayout3.xml" Id="Re6e0641d2f834192" /><Relationship Type="http://schemas.openxmlformats.org/officeDocument/2006/relationships/slideLayout" Target="/ppt/slideLayouts/slideLayout4.xml" Id="R50f83ff816b74899" /><Relationship Type="http://schemas.openxmlformats.org/officeDocument/2006/relationships/slideLayout" Target="/ppt/slideLayouts/slideLayout5.xml" Id="R60c4b78437884562" /><Relationship Type="http://schemas.openxmlformats.org/officeDocument/2006/relationships/slideLayout" Target="/ppt/slideLayouts/slideLayout6.xml" Id="R2f809ef5437941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c91485fbd64257"/>
    <p:sldLayoutId xmlns:r="http://schemas.openxmlformats.org/officeDocument/2006/relationships" id="2147483650" r:id="Rd5d8f8a4ea3347e8"/>
    <p:sldLayoutId xmlns:r="http://schemas.openxmlformats.org/officeDocument/2006/relationships" id="2147483651" r:id="Re6e0641d2f834192"/>
    <p:sldLayoutId xmlns:r="http://schemas.openxmlformats.org/officeDocument/2006/relationships" id="2147483652" r:id="R50f83ff816b74899"/>
    <p:sldLayoutId xmlns:r="http://schemas.openxmlformats.org/officeDocument/2006/relationships" id="2147483653" r:id="R60c4b78437884562"/>
    <p:sldLayoutId xmlns:r="http://schemas.openxmlformats.org/officeDocument/2006/relationships" id="2147483654" r:id="R2f809ef5437941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0a48baf32d4265" /><Relationship Type="http://schemas.openxmlformats.org/officeDocument/2006/relationships/notesSlide" Target="/ppt/notesSlides/notesSlide1.xml" Id="Re64fe1b4465d4e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274b19ec604ffd" /><Relationship Type="http://schemas.openxmlformats.org/officeDocument/2006/relationships/notesSlide" Target="/ppt/notesSlides/notesSlide2.xml" Id="Ra1b1fc7e974649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367df918bb4a6c" /><Relationship Type="http://schemas.openxmlformats.org/officeDocument/2006/relationships/notesSlide" Target="/ppt/notesSlides/notesSlide3.xml" Id="R2f2e0822c56f45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f5165d052949c3" /><Relationship Type="http://schemas.openxmlformats.org/officeDocument/2006/relationships/notesSlide" Target="/ppt/notesSlides/notesSlide4.xml" Id="R64f0767f129e44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bf8358348648a2" /><Relationship Type="http://schemas.openxmlformats.org/officeDocument/2006/relationships/notesSlide" Target="/ppt/notesSlides/notesSlide5.xml" Id="R65231a3dbe5c42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2631b60f794274" /><Relationship Type="http://schemas.openxmlformats.org/officeDocument/2006/relationships/notesSlide" Target="/ppt/notesSlides/notesSlide6.xml" Id="R23ade3c6b3b14a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ddfec148db410c" /><Relationship Type="http://schemas.openxmlformats.org/officeDocument/2006/relationships/notesSlide" Target="/ppt/notesSlides/notesSlide7.xml" Id="Rc71d4981674f46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de7365426b4cee" /><Relationship Type="http://schemas.openxmlformats.org/officeDocument/2006/relationships/notesSlide" Target="/ppt/notesSlides/notesSlide8.xml" Id="R186e2d6b5aa547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ce7dde715541c2" /><Relationship Type="http://schemas.openxmlformats.org/officeDocument/2006/relationships/notesSlide" Target="/ppt/notesSlides/notesSlide9.xml" Id="R20b3f5eb79a34619" /></Relationships>
</file>

<file path=ppt/slides/slide1.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8783C4-0C86-4067-BDFD-888BA9C50C2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D77488-1030-46D0-8E81-5F1DE4CA73CD}"/>
              </a:ext>
            </a:extLst>
          </p:cNvPr>
          <p:cNvSpPr>
            <a:spLocks xmlns:a="http://schemas.openxmlformats.org/drawingml/2006/main" noGrp="1"/>
          </p:cNvSpPr>
          <p:nvPr/>
        </p:nvSpPr>
        <p:spPr>
          <a:xfrm xmlns:a="http://schemas.openxmlformats.org/drawingml/2006/main">
            <a:off x="742950" y="1314450"/>
            <a:ext cx="1047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19232A"/>
                </a:solidFill>
              </a:defRPr>
            </a:defPPr>
            <a:lvl1pPr>
              <a:defRPr sz="3900" b="1">
                <a:solidFill>
                  <a:srgbClr val="19232A"/>
                </a:solidFill>
              </a:defRPr>
            </a:lvl1pPr>
            <a:lvl2pPr>
              <a:defRPr sz="3900" b="1">
                <a:solidFill>
                  <a:srgbClr val="19232A"/>
                </a:solidFill>
              </a:defRPr>
            </a:lvl2pPr>
            <a:lvl3pPr>
              <a:defRPr sz="3900" b="1">
                <a:solidFill>
                  <a:srgbClr val="19232A"/>
                </a:solidFill>
              </a:defRPr>
            </a:lvl3pPr>
            <a:lvl4pPr>
              <a:defRPr sz="3900" b="1">
                <a:solidFill>
                  <a:srgbClr val="19232A"/>
                </a:solidFill>
              </a:defRPr>
            </a:lvl4pPr>
            <a:lvl5pPr>
              <a:defRPr sz="3900" b="1">
                <a:solidFill>
                  <a:srgbClr val="19232A"/>
                </a:solidFill>
              </a:defRPr>
            </a:lvl5pPr>
            <a:lvl6pPr>
              <a:defRPr sz="3900" b="1">
                <a:solidFill>
                  <a:srgbClr val="19232A"/>
                </a:solidFill>
              </a:defRPr>
            </a:lvl6pPr>
            <a:lvl7pPr>
              <a:defRPr sz="3900" b="1">
                <a:solidFill>
                  <a:srgbClr val="19232A"/>
                </a:solidFill>
              </a:defRPr>
            </a:lvl7pPr>
            <a:lvl8pPr>
              <a:defRPr sz="3900" b="1">
                <a:solidFill>
                  <a:srgbClr val="19232A"/>
                </a:solidFill>
              </a:defRPr>
            </a:lvl8pPr>
            <a:lvl9pPr>
              <a:defRPr sz="3900" b="1">
                <a:solidFill>
                  <a:srgbClr val="19232A"/>
                </a:solidFill>
              </a:defRPr>
            </a:lvl9pPr>
          </a:lstStyle>
          <a:p xmlns:a="http://schemas.openxmlformats.org/drawingml/2006/main">
            <a:pPr>
              <a:defRPr sz="3900" b="1">
                <a:solidFill>
                  <a:srgbClr val="19232A"/>
                </a:solidFill>
              </a:defRPr>
            </a:pPr>
            <a:r>
              <a:rPr sz="3900" b="1">
                <a:solidFill>
                  <a:srgbClr val="19232A"/>
                </a:solidFill>
              </a:rPr>
              <a:t>StateShield-MQTT</a:t>
            </a:r>
          </a:p>
        </p:txBody>
      </p:sp>
      <p:sp>
        <p:nvSpPr>
          <p:cNvPr id="3" name="">
            <a:extLst xmlns:a="http://schemas.openxmlformats.org/drawingml/2006/main">
              <a:ext uri="{FF2B5EF4-FFF2-40B4-BE49-F238E27FC236}">
                <a16:creationId xmlns:a16="http://schemas.microsoft.com/office/drawing/2014/main" id="{CAA4B98B-F891-4F65-97F6-CC962B9B0436}"/>
              </a:ext>
            </a:extLst>
          </p:cNvPr>
          <p:cNvSpPr>
            <a:spLocks xmlns:a="http://schemas.openxmlformats.org/drawingml/2006/main" noGrp="1"/>
          </p:cNvSpPr>
          <p:nvPr/>
        </p:nvSpPr>
        <p:spPr>
          <a:xfrm xmlns:a="http://schemas.openxmlformats.org/drawingml/2006/main">
            <a:off x="762000" y="221932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0B766D"/>
                </a:solidFill>
              </a:defRPr>
            </a:defPPr>
            <a:lvl1pPr>
              <a:defRPr sz="2250" b="0">
                <a:solidFill>
                  <a:srgbClr val="0B766D"/>
                </a:solidFill>
              </a:defRPr>
            </a:lvl1pPr>
            <a:lvl2pPr>
              <a:defRPr sz="2250" b="0">
                <a:solidFill>
                  <a:srgbClr val="0B766D"/>
                </a:solidFill>
              </a:defRPr>
            </a:lvl2pPr>
            <a:lvl3pPr>
              <a:defRPr sz="2250" b="0">
                <a:solidFill>
                  <a:srgbClr val="0B766D"/>
                </a:solidFill>
              </a:defRPr>
            </a:lvl3pPr>
            <a:lvl4pPr>
              <a:defRPr sz="2250" b="0">
                <a:solidFill>
                  <a:srgbClr val="0B766D"/>
                </a:solidFill>
              </a:defRPr>
            </a:lvl4pPr>
            <a:lvl5pPr>
              <a:defRPr sz="2250" b="0">
                <a:solidFill>
                  <a:srgbClr val="0B766D"/>
                </a:solidFill>
              </a:defRPr>
            </a:lvl5pPr>
            <a:lvl6pPr>
              <a:defRPr sz="2250" b="0">
                <a:solidFill>
                  <a:srgbClr val="0B766D"/>
                </a:solidFill>
              </a:defRPr>
            </a:lvl6pPr>
            <a:lvl7pPr>
              <a:defRPr sz="2250" b="0">
                <a:solidFill>
                  <a:srgbClr val="0B766D"/>
                </a:solidFill>
              </a:defRPr>
            </a:lvl7pPr>
            <a:lvl8pPr>
              <a:defRPr sz="2250" b="0">
                <a:solidFill>
                  <a:srgbClr val="0B766D"/>
                </a:solidFill>
              </a:defRPr>
            </a:lvl8pPr>
            <a:lvl9pPr>
              <a:defRPr sz="2250" b="0">
                <a:solidFill>
                  <a:srgbClr val="0B766D"/>
                </a:solidFill>
              </a:defRPr>
            </a:lvl9pPr>
          </a:lstStyle>
          <a:p xmlns:a="http://schemas.openxmlformats.org/drawingml/2006/main">
            <a:pPr>
              <a:defRPr sz="2250" b="0">
                <a:solidFill>
                  <a:srgbClr val="0B766D"/>
                </a:solidFill>
              </a:defRPr>
            </a:pPr>
            <a:r>
              <a:rPr sz="2250" b="0">
                <a:solidFill>
                  <a:srgbClr val="0B766D"/>
                </a:solidFill>
              </a:rPr>
              <a:t>Persistent-session pressure in MQTT 5.0 brokers</a:t>
            </a:r>
          </a:p>
        </p:txBody>
      </p:sp>
      <p:sp>
        <p:nvSpPr>
          <p:cNvPr id="4" name="">
            <a:extLst xmlns:a="http://schemas.openxmlformats.org/drawingml/2006/main">
              <a:ext uri="{FF2B5EF4-FFF2-40B4-BE49-F238E27FC236}">
                <a16:creationId xmlns:a16="http://schemas.microsoft.com/office/drawing/2014/main" id="{7E24C3DE-42DB-4503-B9D3-C70B41281EB9}"/>
              </a:ext>
            </a:extLst>
          </p:cNvPr>
          <p:cNvSpPr>
            <a:spLocks xmlns:a="http://schemas.openxmlformats.org/drawingml/2006/main" noGrp="1"/>
          </p:cNvSpPr>
          <p:nvPr/>
        </p:nvSpPr>
        <p:spPr>
          <a:xfrm xmlns:a="http://schemas.openxmlformats.org/drawingml/2006/main">
            <a:off x="762000" y="3067050"/>
            <a:ext cx="106680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AFA5F02-1B7B-4FA7-B250-7266EA739FE0}"/>
              </a:ext>
            </a:extLst>
          </p:cNvPr>
          <p:cNvSpPr>
            <a:spLocks xmlns:a="http://schemas.openxmlformats.org/drawingml/2006/main" noGrp="1"/>
          </p:cNvSpPr>
          <p:nvPr/>
        </p:nvSpPr>
        <p:spPr>
          <a:xfrm xmlns:a="http://schemas.openxmlformats.org/drawingml/2006/main">
            <a:off x="762000" y="34480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9232A"/>
                </a:solidFill>
              </a:defRPr>
            </a:defPPr>
            <a:lvl1pPr>
              <a:defRPr sz="1800" b="0">
                <a:solidFill>
                  <a:srgbClr val="19232A"/>
                </a:solidFill>
              </a:defRPr>
            </a:lvl1pPr>
            <a:lvl2pPr>
              <a:defRPr sz="1800" b="0">
                <a:solidFill>
                  <a:srgbClr val="19232A"/>
                </a:solidFill>
              </a:defRPr>
            </a:lvl2pPr>
            <a:lvl3pPr>
              <a:defRPr sz="1800" b="0">
                <a:solidFill>
                  <a:srgbClr val="19232A"/>
                </a:solidFill>
              </a:defRPr>
            </a:lvl3pPr>
            <a:lvl4pPr>
              <a:defRPr sz="1800" b="0">
                <a:solidFill>
                  <a:srgbClr val="19232A"/>
                </a:solidFill>
              </a:defRPr>
            </a:lvl4pPr>
            <a:lvl5pPr>
              <a:defRPr sz="1800" b="0">
                <a:solidFill>
                  <a:srgbClr val="19232A"/>
                </a:solidFill>
              </a:defRPr>
            </a:lvl5pPr>
            <a:lvl6pPr>
              <a:defRPr sz="1800" b="0">
                <a:solidFill>
                  <a:srgbClr val="19232A"/>
                </a:solidFill>
              </a:defRPr>
            </a:lvl6pPr>
            <a:lvl7pPr>
              <a:defRPr sz="1800" b="0">
                <a:solidFill>
                  <a:srgbClr val="19232A"/>
                </a:solidFill>
              </a:defRPr>
            </a:lvl7pPr>
            <a:lvl8pPr>
              <a:defRPr sz="1800" b="0">
                <a:solidFill>
                  <a:srgbClr val="19232A"/>
                </a:solidFill>
              </a:defRPr>
            </a:lvl8pPr>
            <a:lvl9pPr>
              <a:defRPr sz="1800" b="0">
                <a:solidFill>
                  <a:srgbClr val="19232A"/>
                </a:solidFill>
              </a:defRPr>
            </a:lvl9pPr>
          </a:lstStyle>
          <a:p xmlns:a="http://schemas.openxmlformats.org/drawingml/2006/main">
            <a:pPr>
              <a:defRPr sz="1800" b="0">
                <a:solidFill>
                  <a:srgbClr val="19232A"/>
                </a:solidFill>
              </a:defRPr>
            </a:pPr>
            <a:r>
              <a:rPr sz="1800" b="0">
                <a:solidFill>
                  <a:srgbClr val="19232A"/>
                </a:solidFill>
              </a:rPr>
              <a:t>First project review  |  23 October 2026</a:t>
            </a:r>
          </a:p>
        </p:txBody>
      </p:sp>
      <p:sp>
        <p:nvSpPr>
          <p:cNvPr id="6" name="">
            <a:extLst xmlns:a="http://schemas.openxmlformats.org/drawingml/2006/main">
              <a:ext uri="{FF2B5EF4-FFF2-40B4-BE49-F238E27FC236}">
                <a16:creationId xmlns:a16="http://schemas.microsoft.com/office/drawing/2014/main" id="{911386EB-3FA6-4125-AAD0-45C4E84BC4F3}"/>
              </a:ext>
            </a:extLst>
          </p:cNvPr>
          <p:cNvSpPr>
            <a:spLocks xmlns:a="http://schemas.openxmlformats.org/drawingml/2006/main" noGrp="1"/>
          </p:cNvSpPr>
          <p:nvPr/>
        </p:nvSpPr>
        <p:spPr>
          <a:xfrm xmlns:a="http://schemas.openxmlformats.org/drawingml/2006/main">
            <a:off x="762000" y="4219575"/>
            <a:ext cx="6953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4B5961"/>
                </a:solidFill>
              </a:defRPr>
            </a:defPPr>
            <a:lvl1pPr>
              <a:defRPr sz="1650" b="0">
                <a:solidFill>
                  <a:srgbClr val="4B5961"/>
                </a:solidFill>
              </a:defRPr>
            </a:lvl1pPr>
            <a:lvl2pPr>
              <a:defRPr sz="1650" b="0">
                <a:solidFill>
                  <a:srgbClr val="4B5961"/>
                </a:solidFill>
              </a:defRPr>
            </a:lvl2pPr>
            <a:lvl3pPr>
              <a:defRPr sz="1650" b="0">
                <a:solidFill>
                  <a:srgbClr val="4B5961"/>
                </a:solidFill>
              </a:defRPr>
            </a:lvl3pPr>
            <a:lvl4pPr>
              <a:defRPr sz="1650" b="0">
                <a:solidFill>
                  <a:srgbClr val="4B5961"/>
                </a:solidFill>
              </a:defRPr>
            </a:lvl4pPr>
            <a:lvl5pPr>
              <a:defRPr sz="1650" b="0">
                <a:solidFill>
                  <a:srgbClr val="4B5961"/>
                </a:solidFill>
              </a:defRPr>
            </a:lvl5pPr>
            <a:lvl6pPr>
              <a:defRPr sz="1650" b="0">
                <a:solidFill>
                  <a:srgbClr val="4B5961"/>
                </a:solidFill>
              </a:defRPr>
            </a:lvl6pPr>
            <a:lvl7pPr>
              <a:defRPr sz="1650" b="0">
                <a:solidFill>
                  <a:srgbClr val="4B5961"/>
                </a:solidFill>
              </a:defRPr>
            </a:lvl7pPr>
            <a:lvl8pPr>
              <a:defRPr sz="1650" b="0">
                <a:solidFill>
                  <a:srgbClr val="4B5961"/>
                </a:solidFill>
              </a:defRPr>
            </a:lvl8pPr>
            <a:lvl9pPr>
              <a:defRPr sz="1650" b="0">
                <a:solidFill>
                  <a:srgbClr val="4B5961"/>
                </a:solidFill>
              </a:defRPr>
            </a:lvl9pPr>
          </a:lstStyle>
          <a:p xmlns:a="http://schemas.openxmlformats.org/drawingml/2006/main">
            <a:pPr>
              <a:defRPr sz="1650" b="0">
                <a:solidFill>
                  <a:srgbClr val="4B5961"/>
                </a:solidFill>
              </a:defRPr>
            </a:pPr>
            <a:r>
              <a:rPr sz="1650" b="0">
                <a:solidFill>
                  <a:srgbClr val="4B5961"/>
                </a:solidFill>
              </a:rPr>
              <a:t>Vinay Kumar  AP26122050024</a:t>
            </a:r>
          </a:p>
          <a:p xmlns:a="http://schemas.openxmlformats.org/drawingml/2006/main">
            <a:pPr>
              <a:defRPr sz="1650" b="0">
                <a:solidFill>
                  <a:srgbClr val="4B5961"/>
                </a:solidFill>
              </a:defRPr>
            </a:pPr>
            <a:r>
              <a:rPr sz="1650" b="0">
                <a:solidFill>
                  <a:srgbClr val="4B5961"/>
                </a:solidFill>
              </a:rPr>
              <a:t>Triphal Sahu  AP26122050013</a:t>
            </a:r>
          </a:p>
          <a:p xmlns:a="http://schemas.openxmlformats.org/drawingml/2006/main">
            <a:pPr>
              <a:defRPr sz="1650" b="0">
                <a:solidFill>
                  <a:srgbClr val="4B5961"/>
                </a:solidFill>
              </a:defRPr>
            </a:pPr>
            <a:r>
              <a:rPr sz="1650" b="0">
                <a:solidFill>
                  <a:srgbClr val="4B5961"/>
                </a:solidFill>
              </a:rPr>
              <a:t>Venkatesh  AP26122050014</a:t>
            </a:r>
          </a:p>
        </p:txBody>
      </p:sp>
      <p:sp>
        <p:nvSpPr>
          <p:cNvPr id="7" name="">
            <a:extLst xmlns:a="http://schemas.openxmlformats.org/drawingml/2006/main">
              <a:ext uri="{FF2B5EF4-FFF2-40B4-BE49-F238E27FC236}">
                <a16:creationId xmlns:a16="http://schemas.microsoft.com/office/drawing/2014/main" id="{E02D7CD5-0560-4D81-BF64-DE52EECFA10A}"/>
              </a:ext>
            </a:extLst>
          </p:cNvPr>
          <p:cNvSpPr>
            <a:spLocks xmlns:a="http://schemas.openxmlformats.org/drawingml/2006/main" noGrp="1"/>
          </p:cNvSpPr>
          <p:nvPr/>
        </p:nvSpPr>
        <p:spPr>
          <a:xfrm xmlns:a="http://schemas.openxmlformats.org/drawingml/2006/main">
            <a:off x="7905750" y="4219575"/>
            <a:ext cx="333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4B5961"/>
                </a:solidFill>
              </a:defRPr>
            </a:defPPr>
            <a:lvl1pPr>
              <a:defRPr sz="1650" b="0">
                <a:solidFill>
                  <a:srgbClr val="4B5961"/>
                </a:solidFill>
              </a:defRPr>
            </a:lvl1pPr>
            <a:lvl2pPr>
              <a:defRPr sz="1650" b="0">
                <a:solidFill>
                  <a:srgbClr val="4B5961"/>
                </a:solidFill>
              </a:defRPr>
            </a:lvl2pPr>
            <a:lvl3pPr>
              <a:defRPr sz="1650" b="0">
                <a:solidFill>
                  <a:srgbClr val="4B5961"/>
                </a:solidFill>
              </a:defRPr>
            </a:lvl3pPr>
            <a:lvl4pPr>
              <a:defRPr sz="1650" b="0">
                <a:solidFill>
                  <a:srgbClr val="4B5961"/>
                </a:solidFill>
              </a:defRPr>
            </a:lvl4pPr>
            <a:lvl5pPr>
              <a:defRPr sz="1650" b="0">
                <a:solidFill>
                  <a:srgbClr val="4B5961"/>
                </a:solidFill>
              </a:defRPr>
            </a:lvl5pPr>
            <a:lvl6pPr>
              <a:defRPr sz="1650" b="0">
                <a:solidFill>
                  <a:srgbClr val="4B5961"/>
                </a:solidFill>
              </a:defRPr>
            </a:lvl6pPr>
            <a:lvl7pPr>
              <a:defRPr sz="1650" b="0">
                <a:solidFill>
                  <a:srgbClr val="4B5961"/>
                </a:solidFill>
              </a:defRPr>
            </a:lvl7pPr>
            <a:lvl8pPr>
              <a:defRPr sz="1650" b="0">
                <a:solidFill>
                  <a:srgbClr val="4B5961"/>
                </a:solidFill>
              </a:defRPr>
            </a:lvl8pPr>
            <a:lvl9pPr>
              <a:defRPr sz="1650" b="0">
                <a:solidFill>
                  <a:srgbClr val="4B5961"/>
                </a:solidFill>
              </a:defRPr>
            </a:lvl9pPr>
          </a:lstStyle>
          <a:p xmlns:a="http://schemas.openxmlformats.org/drawingml/2006/main">
            <a:pPr>
              <a:defRPr sz="1650" b="0">
                <a:solidFill>
                  <a:srgbClr val="4B5961"/>
                </a:solidFill>
              </a:defRPr>
            </a:pPr>
            <a:r>
              <a:rPr sz="1650" b="0">
                <a:solidFill>
                  <a:srgbClr val="4B5961"/>
                </a:solidFill>
              </a:rPr>
              <a:t>Group B4</a:t>
            </a:r>
          </a:p>
          <a:p xmlns:a="http://schemas.openxmlformats.org/drawingml/2006/main">
            <a:pPr>
              <a:defRPr sz="1650" b="0">
                <a:solidFill>
                  <a:srgbClr val="4B5961"/>
                </a:solidFill>
              </a:defRPr>
            </a:pPr>
            <a:r>
              <a:rPr sz="1650" b="0">
                <a:solidFill>
                  <a:srgbClr val="4B5961"/>
                </a:solidFill>
              </a:rPr>
              <a:t>Faculty: Krishna Kumari</a:t>
            </a:r>
          </a:p>
        </p:txBody>
      </p:sp>
    </p:spTree>
    <p:extLst>
      <p:ext uri="{BB962C8B-B14F-4D97-AF65-F5344CB8AC3E}">
        <p14:creationId xmlns:p14="http://schemas.microsoft.com/office/powerpoint/2010/main" val="1372367173"/>
      </p:ext>
    </p:extLst>
  </p:cSld>
</p:sld>
</file>

<file path=ppt/slides/slide2.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636C7A-0561-4285-B8A0-BD972760DFD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1ED944-47BA-40D1-BD0D-D0FBCD25E657}"/>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Why this broker state matters</a:t>
            </a:r>
          </a:p>
        </p:txBody>
      </p:sp>
      <p:sp>
        <p:nvSpPr>
          <p:cNvPr id="3" name="">
            <a:extLst xmlns:a="http://schemas.openxmlformats.org/drawingml/2006/main">
              <a:ext uri="{FF2B5EF4-FFF2-40B4-BE49-F238E27FC236}">
                <a16:creationId xmlns:a16="http://schemas.microsoft.com/office/drawing/2014/main" id="{1CD32BAA-A92C-4E25-8F8E-A80C6A6B4A93}"/>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359713-D4ED-4C67-AF6D-68D2C5FF4B8D}"/>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2/9</a:t>
            </a:r>
          </a:p>
        </p:txBody>
      </p:sp>
      <p:sp>
        <p:nvSpPr>
          <p:cNvPr id="5" name="">
            <a:extLst xmlns:a="http://schemas.openxmlformats.org/drawingml/2006/main">
              <a:ext uri="{FF2B5EF4-FFF2-40B4-BE49-F238E27FC236}">
                <a16:creationId xmlns:a16="http://schemas.microsoft.com/office/drawing/2014/main" id="{C29BDFCA-6249-418A-A999-49D51ED0EFF5}"/>
              </a:ext>
            </a:extLst>
          </p:cNvPr>
          <p:cNvSpPr>
            <a:spLocks xmlns:a="http://schemas.openxmlformats.org/drawingml/2006/main" noGrp="1"/>
          </p:cNvSpPr>
          <p:nvPr/>
        </p:nvSpPr>
        <p:spPr>
          <a:xfrm xmlns:a="http://schemas.openxmlformats.org/drawingml/2006/main">
            <a:off x="723900" y="204787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AC3F96-E784-4116-8BFF-6B6C7B8594B5}"/>
              </a:ext>
            </a:extLst>
          </p:cNvPr>
          <p:cNvSpPr>
            <a:spLocks xmlns:a="http://schemas.openxmlformats.org/drawingml/2006/main" noGrp="1"/>
          </p:cNvSpPr>
          <p:nvPr/>
        </p:nvSpPr>
        <p:spPr>
          <a:xfrm xmlns:a="http://schemas.openxmlformats.org/drawingml/2006/main">
            <a:off x="1000125" y="195262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The broker keeps subscriptions and queued QoS 1 messages for offline clients.</a:t>
            </a:r>
          </a:p>
        </p:txBody>
      </p:sp>
      <p:sp>
        <p:nvSpPr>
          <p:cNvPr id="7" name="">
            <a:extLst xmlns:a="http://schemas.openxmlformats.org/drawingml/2006/main">
              <a:ext uri="{FF2B5EF4-FFF2-40B4-BE49-F238E27FC236}">
                <a16:creationId xmlns:a16="http://schemas.microsoft.com/office/drawing/2014/main" id="{2B731E56-99A5-48BB-9EA4-E98B07A4CDF1}"/>
              </a:ext>
            </a:extLst>
          </p:cNvPr>
          <p:cNvSpPr>
            <a:spLocks xmlns:a="http://schemas.openxmlformats.org/drawingml/2006/main" noGrp="1"/>
          </p:cNvSpPr>
          <p:nvPr/>
        </p:nvSpPr>
        <p:spPr>
          <a:xfrm xmlns:a="http://schemas.openxmlformats.org/drawingml/2006/main">
            <a:off x="723900" y="303847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9219E6-D9BF-4375-B5BC-3282736CDBF7}"/>
              </a:ext>
            </a:extLst>
          </p:cNvPr>
          <p:cNvSpPr>
            <a:spLocks xmlns:a="http://schemas.openxmlformats.org/drawingml/2006/main" noGrp="1"/>
          </p:cNvSpPr>
          <p:nvPr/>
        </p:nvSpPr>
        <p:spPr>
          <a:xfrm xmlns:a="http://schemas.openxmlformats.org/drawingml/2006/main">
            <a:off x="1000125" y="294322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Several valid client actions can build state across time and identities.</a:t>
            </a:r>
          </a:p>
        </p:txBody>
      </p:sp>
      <p:sp>
        <p:nvSpPr>
          <p:cNvPr id="9" name="">
            <a:extLst xmlns:a="http://schemas.openxmlformats.org/drawingml/2006/main">
              <a:ext uri="{FF2B5EF4-FFF2-40B4-BE49-F238E27FC236}">
                <a16:creationId xmlns:a16="http://schemas.microsoft.com/office/drawing/2014/main" id="{2781DC37-50A6-4276-9CCC-36D674130A62}"/>
              </a:ext>
            </a:extLst>
          </p:cNvPr>
          <p:cNvSpPr>
            <a:spLocks xmlns:a="http://schemas.openxmlformats.org/drawingml/2006/main" noGrp="1"/>
          </p:cNvSpPr>
          <p:nvPr/>
        </p:nvSpPr>
        <p:spPr>
          <a:xfrm xmlns:a="http://schemas.openxmlformats.org/drawingml/2006/main">
            <a:off x="723900" y="402907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065CC8-414E-467B-B647-6C95397068D4}"/>
              </a:ext>
            </a:extLst>
          </p:cNvPr>
          <p:cNvSpPr>
            <a:spLocks xmlns:a="http://schemas.openxmlformats.org/drawingml/2006/main" noGrp="1"/>
          </p:cNvSpPr>
          <p:nvPr/>
        </p:nvSpPr>
        <p:spPr>
          <a:xfrm xmlns:a="http://schemas.openxmlformats.org/drawingml/2006/main">
            <a:off x="1000125" y="393382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A packet-level check may miss the accumulated broker cost.</a:t>
            </a:r>
          </a:p>
        </p:txBody>
      </p:sp>
      <p:sp>
        <p:nvSpPr>
          <p:cNvPr id="11" name="">
            <a:extLst xmlns:a="http://schemas.openxmlformats.org/drawingml/2006/main">
              <a:ext uri="{FF2B5EF4-FFF2-40B4-BE49-F238E27FC236}">
                <a16:creationId xmlns:a16="http://schemas.microsoft.com/office/drawing/2014/main" id="{EE445C0F-8B97-43D6-BF0B-23FABC609F72}"/>
              </a:ext>
            </a:extLst>
          </p:cNvPr>
          <p:cNvSpPr>
            <a:spLocks xmlns:a="http://schemas.openxmlformats.org/drawingml/2006/main" noGrp="1"/>
          </p:cNvSpPr>
          <p:nvPr/>
        </p:nvSpPr>
        <p:spPr>
          <a:xfrm xmlns:a="http://schemas.openxmlformats.org/drawingml/2006/main">
            <a:off x="990600" y="52673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B766D"/>
                </a:solidFill>
              </a:defRPr>
            </a:defPPr>
            <a:lvl1pPr>
              <a:defRPr sz="1800" b="1">
                <a:solidFill>
                  <a:srgbClr val="0B766D"/>
                </a:solidFill>
              </a:defRPr>
            </a:lvl1pPr>
            <a:lvl2pPr>
              <a:defRPr sz="1800" b="1">
                <a:solidFill>
                  <a:srgbClr val="0B766D"/>
                </a:solidFill>
              </a:defRPr>
            </a:lvl2pPr>
            <a:lvl3pPr>
              <a:defRPr sz="1800" b="1">
                <a:solidFill>
                  <a:srgbClr val="0B766D"/>
                </a:solidFill>
              </a:defRPr>
            </a:lvl3pPr>
            <a:lvl4pPr>
              <a:defRPr sz="1800" b="1">
                <a:solidFill>
                  <a:srgbClr val="0B766D"/>
                </a:solidFill>
              </a:defRPr>
            </a:lvl4pPr>
            <a:lvl5pPr>
              <a:defRPr sz="1800" b="1">
                <a:solidFill>
                  <a:srgbClr val="0B766D"/>
                </a:solidFill>
              </a:defRPr>
            </a:lvl5pPr>
            <a:lvl6pPr>
              <a:defRPr sz="1800" b="1">
                <a:solidFill>
                  <a:srgbClr val="0B766D"/>
                </a:solidFill>
              </a:defRPr>
            </a:lvl6pPr>
            <a:lvl7pPr>
              <a:defRPr sz="1800" b="1">
                <a:solidFill>
                  <a:srgbClr val="0B766D"/>
                </a:solidFill>
              </a:defRPr>
            </a:lvl7pPr>
            <a:lvl8pPr>
              <a:defRPr sz="1800" b="1">
                <a:solidFill>
                  <a:srgbClr val="0B766D"/>
                </a:solidFill>
              </a:defRPr>
            </a:lvl8pPr>
            <a:lvl9pPr>
              <a:defRPr sz="1800" b="1">
                <a:solidFill>
                  <a:srgbClr val="0B766D"/>
                </a:solidFill>
              </a:defRPr>
            </a:lvl9pPr>
          </a:lstStyle>
          <a:p xmlns:a="http://schemas.openxmlformats.org/drawingml/2006/main">
            <a:pPr>
              <a:defRPr sz="1800" b="1">
                <a:solidFill>
                  <a:srgbClr val="0B766D"/>
                </a:solidFill>
              </a:defRPr>
            </a:pPr>
            <a:r>
              <a:rPr sz="1800" b="1">
                <a:solidFill>
                  <a:srgbClr val="0B766D"/>
                </a:solidFill>
              </a:rPr>
              <a:t>Our first test measures the mechanism; it does not allege a bug.</a:t>
            </a:r>
          </a:p>
        </p:txBody>
      </p:sp>
    </p:spTree>
    <p:extLst>
      <p:ext uri="{BB962C8B-B14F-4D97-AF65-F5344CB8AC3E}">
        <p14:creationId xmlns:p14="http://schemas.microsoft.com/office/powerpoint/2010/main" val="1345860925"/>
      </p:ext>
    </p:extLst>
  </p:cSld>
</p:sld>
</file>

<file path=ppt/slides/slide3.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725ADA9-5076-4A68-B09F-FFFA6203423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ADF13C-70C4-4AF0-84B4-BCD9C551008A}"/>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One MQTT 5.0 interaction sequence</a:t>
            </a:r>
          </a:p>
        </p:txBody>
      </p:sp>
      <p:sp>
        <p:nvSpPr>
          <p:cNvPr id="3" name="">
            <a:extLst xmlns:a="http://schemas.openxmlformats.org/drawingml/2006/main">
              <a:ext uri="{FF2B5EF4-FFF2-40B4-BE49-F238E27FC236}">
                <a16:creationId xmlns:a16="http://schemas.microsoft.com/office/drawing/2014/main" id="{0FA3E7D0-199D-4459-870E-74351387A50A}"/>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C22E06-F059-4A80-8AFA-511E6A8D760F}"/>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3/9</a:t>
            </a:r>
          </a:p>
        </p:txBody>
      </p:sp>
      <p:sp>
        <p:nvSpPr>
          <p:cNvPr id="5" name="">
            <a:extLst xmlns:a="http://schemas.openxmlformats.org/drawingml/2006/main">
              <a:ext uri="{FF2B5EF4-FFF2-40B4-BE49-F238E27FC236}">
                <a16:creationId xmlns:a16="http://schemas.microsoft.com/office/drawing/2014/main" id="{28F44484-C756-488E-8D00-14F7E4F4A445}"/>
              </a:ext>
            </a:extLst>
          </p:cNvPr>
          <p:cNvSpPr>
            <a:spLocks xmlns:a="http://schemas.openxmlformats.org/drawingml/2006/main" noGrp="1"/>
          </p:cNvSpPr>
          <p:nvPr/>
        </p:nvSpPr>
        <p:spPr>
          <a:xfrm xmlns:a="http://schemas.openxmlformats.org/drawingml/2006/main">
            <a:off x="762000" y="1819275"/>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B766D"/>
                </a:solidFill>
              </a:defRPr>
            </a:defPPr>
            <a:lvl1pPr>
              <a:defRPr sz="1875" b="1">
                <a:solidFill>
                  <a:srgbClr val="0B766D"/>
                </a:solidFill>
              </a:defRPr>
            </a:lvl1pPr>
            <a:lvl2pPr>
              <a:defRPr sz="1875" b="1">
                <a:solidFill>
                  <a:srgbClr val="0B766D"/>
                </a:solidFill>
              </a:defRPr>
            </a:lvl2pPr>
            <a:lvl3pPr>
              <a:defRPr sz="1875" b="1">
                <a:solidFill>
                  <a:srgbClr val="0B766D"/>
                </a:solidFill>
              </a:defRPr>
            </a:lvl3pPr>
            <a:lvl4pPr>
              <a:defRPr sz="1875" b="1">
                <a:solidFill>
                  <a:srgbClr val="0B766D"/>
                </a:solidFill>
              </a:defRPr>
            </a:lvl4pPr>
            <a:lvl5pPr>
              <a:defRPr sz="1875" b="1">
                <a:solidFill>
                  <a:srgbClr val="0B766D"/>
                </a:solidFill>
              </a:defRPr>
            </a:lvl5pPr>
            <a:lvl6pPr>
              <a:defRPr sz="1875" b="1">
                <a:solidFill>
                  <a:srgbClr val="0B766D"/>
                </a:solidFill>
              </a:defRPr>
            </a:lvl6pPr>
            <a:lvl7pPr>
              <a:defRPr sz="1875" b="1">
                <a:solidFill>
                  <a:srgbClr val="0B766D"/>
                </a:solidFill>
              </a:defRPr>
            </a:lvl7pPr>
            <a:lvl8pPr>
              <a:defRPr sz="1875" b="1">
                <a:solidFill>
                  <a:srgbClr val="0B766D"/>
                </a:solidFill>
              </a:defRPr>
            </a:lvl8pPr>
            <a:lvl9pPr>
              <a:defRPr sz="1875" b="1">
                <a:solidFill>
                  <a:srgbClr val="0B766D"/>
                </a:solidFill>
              </a:defRPr>
            </a:lvl9pPr>
          </a:lstStyle>
          <a:p xmlns:a="http://schemas.openxmlformats.org/drawingml/2006/main">
            <a:pPr>
              <a:defRPr sz="1875" b="1">
                <a:solidFill>
                  <a:srgbClr val="0B766D"/>
                </a:solidFill>
              </a:defRPr>
            </a:pPr>
            <a:r>
              <a:rPr sz="1875" b="1">
                <a:solidFill>
                  <a:srgbClr val="0B766D"/>
                </a:solidFill>
              </a:rPr>
              <a:t>1</a:t>
            </a:r>
          </a:p>
        </p:txBody>
      </p:sp>
      <p:sp>
        <p:nvSpPr>
          <p:cNvPr id="6" name="">
            <a:extLst xmlns:a="http://schemas.openxmlformats.org/drawingml/2006/main">
              <a:ext uri="{FF2B5EF4-FFF2-40B4-BE49-F238E27FC236}">
                <a16:creationId xmlns:a16="http://schemas.microsoft.com/office/drawing/2014/main" id="{0C203435-6A13-4765-81FF-B26EE667BC87}"/>
              </a:ext>
            </a:extLst>
          </p:cNvPr>
          <p:cNvSpPr>
            <a:spLocks xmlns:a="http://schemas.openxmlformats.org/drawingml/2006/main" noGrp="1"/>
          </p:cNvSpPr>
          <p:nvPr/>
        </p:nvSpPr>
        <p:spPr>
          <a:xfrm xmlns:a="http://schemas.openxmlformats.org/drawingml/2006/main">
            <a:off x="1333500" y="1819275"/>
            <a:ext cx="3667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9232A"/>
                </a:solidFill>
              </a:defRPr>
            </a:defPPr>
            <a:lvl1pPr>
              <a:defRPr sz="1875" b="1">
                <a:solidFill>
                  <a:srgbClr val="19232A"/>
                </a:solidFill>
              </a:defRPr>
            </a:lvl1pPr>
            <a:lvl2pPr>
              <a:defRPr sz="1875" b="1">
                <a:solidFill>
                  <a:srgbClr val="19232A"/>
                </a:solidFill>
              </a:defRPr>
            </a:lvl2pPr>
            <a:lvl3pPr>
              <a:defRPr sz="1875" b="1">
                <a:solidFill>
                  <a:srgbClr val="19232A"/>
                </a:solidFill>
              </a:defRPr>
            </a:lvl3pPr>
            <a:lvl4pPr>
              <a:defRPr sz="1875" b="1">
                <a:solidFill>
                  <a:srgbClr val="19232A"/>
                </a:solidFill>
              </a:defRPr>
            </a:lvl4pPr>
            <a:lvl5pPr>
              <a:defRPr sz="1875" b="1">
                <a:solidFill>
                  <a:srgbClr val="19232A"/>
                </a:solidFill>
              </a:defRPr>
            </a:lvl5pPr>
            <a:lvl6pPr>
              <a:defRPr sz="1875" b="1">
                <a:solidFill>
                  <a:srgbClr val="19232A"/>
                </a:solidFill>
              </a:defRPr>
            </a:lvl6pPr>
            <a:lvl7pPr>
              <a:defRPr sz="1875" b="1">
                <a:solidFill>
                  <a:srgbClr val="19232A"/>
                </a:solidFill>
              </a:defRPr>
            </a:lvl7pPr>
            <a:lvl8pPr>
              <a:defRPr sz="1875" b="1">
                <a:solidFill>
                  <a:srgbClr val="19232A"/>
                </a:solidFill>
              </a:defRPr>
            </a:lvl8pPr>
            <a:lvl9pPr>
              <a:defRPr sz="1875" b="1">
                <a:solidFill>
                  <a:srgbClr val="19232A"/>
                </a:solidFill>
              </a:defRPr>
            </a:lvl9pPr>
          </a:lstStyle>
          <a:p xmlns:a="http://schemas.openxmlformats.org/drawingml/2006/main">
            <a:pPr>
              <a:defRPr sz="1875" b="1">
                <a:solidFill>
                  <a:srgbClr val="19232A"/>
                </a:solidFill>
              </a:defRPr>
            </a:pPr>
            <a:r>
              <a:rPr sz="1875" b="1">
                <a:solidFill>
                  <a:srgbClr val="19232A"/>
                </a:solidFill>
              </a:rPr>
              <a:t>Subscribers A, B, C</a:t>
            </a:r>
          </a:p>
        </p:txBody>
      </p:sp>
      <p:sp>
        <p:nvSpPr>
          <p:cNvPr id="7" name="">
            <a:extLst xmlns:a="http://schemas.openxmlformats.org/drawingml/2006/main">
              <a:ext uri="{FF2B5EF4-FFF2-40B4-BE49-F238E27FC236}">
                <a16:creationId xmlns:a16="http://schemas.microsoft.com/office/drawing/2014/main" id="{BF61E129-C2F7-4325-8E70-8909501E8027}"/>
              </a:ext>
            </a:extLst>
          </p:cNvPr>
          <p:cNvSpPr>
            <a:spLocks xmlns:a="http://schemas.openxmlformats.org/drawingml/2006/main" noGrp="1"/>
          </p:cNvSpPr>
          <p:nvPr/>
        </p:nvSpPr>
        <p:spPr>
          <a:xfrm xmlns:a="http://schemas.openxmlformats.org/drawingml/2006/main">
            <a:off x="5286375" y="181927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9232A"/>
                </a:solidFill>
              </a:defRPr>
            </a:defPPr>
            <a:lvl1pPr>
              <a:defRPr sz="1875" b="0">
                <a:solidFill>
                  <a:srgbClr val="19232A"/>
                </a:solidFill>
              </a:defRPr>
            </a:lvl1pPr>
            <a:lvl2pPr>
              <a:defRPr sz="1875" b="0">
                <a:solidFill>
                  <a:srgbClr val="19232A"/>
                </a:solidFill>
              </a:defRPr>
            </a:lvl2pPr>
            <a:lvl3pPr>
              <a:defRPr sz="1875" b="0">
                <a:solidFill>
                  <a:srgbClr val="19232A"/>
                </a:solidFill>
              </a:defRPr>
            </a:lvl3pPr>
            <a:lvl4pPr>
              <a:defRPr sz="1875" b="0">
                <a:solidFill>
                  <a:srgbClr val="19232A"/>
                </a:solidFill>
              </a:defRPr>
            </a:lvl4pPr>
            <a:lvl5pPr>
              <a:defRPr sz="1875" b="0">
                <a:solidFill>
                  <a:srgbClr val="19232A"/>
                </a:solidFill>
              </a:defRPr>
            </a:lvl5pPr>
            <a:lvl6pPr>
              <a:defRPr sz="1875" b="0">
                <a:solidFill>
                  <a:srgbClr val="19232A"/>
                </a:solidFill>
              </a:defRPr>
            </a:lvl6pPr>
            <a:lvl7pPr>
              <a:defRPr sz="1875" b="0">
                <a:solidFill>
                  <a:srgbClr val="19232A"/>
                </a:solidFill>
              </a:defRPr>
            </a:lvl7pPr>
            <a:lvl8pPr>
              <a:defRPr sz="1875" b="0">
                <a:solidFill>
                  <a:srgbClr val="19232A"/>
                </a:solidFill>
              </a:defRPr>
            </a:lvl8pPr>
            <a:lvl9pPr>
              <a:defRPr sz="1875" b="0">
                <a:solidFill>
                  <a:srgbClr val="19232A"/>
                </a:solidFill>
              </a:defRPr>
            </a:lvl9pPr>
          </a:lstStyle>
          <a:p xmlns:a="http://schemas.openxmlformats.org/drawingml/2006/main">
            <a:pPr>
              <a:defRPr sz="1875" b="0">
                <a:solidFill>
                  <a:srgbClr val="19232A"/>
                </a:solidFill>
              </a:defRPr>
            </a:pPr>
            <a:r>
              <a:rPr sz="1875" b="0">
                <a:solidFill>
                  <a:srgbClr val="19232A"/>
                </a:solidFill>
              </a:rPr>
              <a:t>CONNECT + SUBSCRIBE</a:t>
            </a:r>
          </a:p>
        </p:txBody>
      </p:sp>
      <p:sp>
        <p:nvSpPr>
          <p:cNvPr id="8" name="">
            <a:extLst xmlns:a="http://schemas.openxmlformats.org/drawingml/2006/main">
              <a:ext uri="{FF2B5EF4-FFF2-40B4-BE49-F238E27FC236}">
                <a16:creationId xmlns:a16="http://schemas.microsoft.com/office/drawing/2014/main" id="{748A071E-F0A5-47E5-B93C-4AAEBA51971D}"/>
              </a:ext>
            </a:extLst>
          </p:cNvPr>
          <p:cNvSpPr>
            <a:spLocks xmlns:a="http://schemas.openxmlformats.org/drawingml/2006/main" noGrp="1"/>
          </p:cNvSpPr>
          <p:nvPr/>
        </p:nvSpPr>
        <p:spPr>
          <a:xfrm xmlns:a="http://schemas.openxmlformats.org/drawingml/2006/main">
            <a:off x="762000" y="2524125"/>
            <a:ext cx="103822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D71AB4E-09E9-4172-BA87-800B89A72450}"/>
              </a:ext>
            </a:extLst>
          </p:cNvPr>
          <p:cNvSpPr>
            <a:spLocks xmlns:a="http://schemas.openxmlformats.org/drawingml/2006/main" noGrp="1"/>
          </p:cNvSpPr>
          <p:nvPr/>
        </p:nvSpPr>
        <p:spPr>
          <a:xfrm xmlns:a="http://schemas.openxmlformats.org/drawingml/2006/main">
            <a:off x="762000" y="2800350"/>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B766D"/>
                </a:solidFill>
              </a:defRPr>
            </a:defPPr>
            <a:lvl1pPr>
              <a:defRPr sz="1875" b="1">
                <a:solidFill>
                  <a:srgbClr val="0B766D"/>
                </a:solidFill>
              </a:defRPr>
            </a:lvl1pPr>
            <a:lvl2pPr>
              <a:defRPr sz="1875" b="1">
                <a:solidFill>
                  <a:srgbClr val="0B766D"/>
                </a:solidFill>
              </a:defRPr>
            </a:lvl2pPr>
            <a:lvl3pPr>
              <a:defRPr sz="1875" b="1">
                <a:solidFill>
                  <a:srgbClr val="0B766D"/>
                </a:solidFill>
              </a:defRPr>
            </a:lvl3pPr>
            <a:lvl4pPr>
              <a:defRPr sz="1875" b="1">
                <a:solidFill>
                  <a:srgbClr val="0B766D"/>
                </a:solidFill>
              </a:defRPr>
            </a:lvl4pPr>
            <a:lvl5pPr>
              <a:defRPr sz="1875" b="1">
                <a:solidFill>
                  <a:srgbClr val="0B766D"/>
                </a:solidFill>
              </a:defRPr>
            </a:lvl5pPr>
            <a:lvl6pPr>
              <a:defRPr sz="1875" b="1">
                <a:solidFill>
                  <a:srgbClr val="0B766D"/>
                </a:solidFill>
              </a:defRPr>
            </a:lvl6pPr>
            <a:lvl7pPr>
              <a:defRPr sz="1875" b="1">
                <a:solidFill>
                  <a:srgbClr val="0B766D"/>
                </a:solidFill>
              </a:defRPr>
            </a:lvl7pPr>
            <a:lvl8pPr>
              <a:defRPr sz="1875" b="1">
                <a:solidFill>
                  <a:srgbClr val="0B766D"/>
                </a:solidFill>
              </a:defRPr>
            </a:lvl8pPr>
            <a:lvl9pPr>
              <a:defRPr sz="1875" b="1">
                <a:solidFill>
                  <a:srgbClr val="0B766D"/>
                </a:solidFill>
              </a:defRPr>
            </a:lvl9pPr>
          </a:lstStyle>
          <a:p xmlns:a="http://schemas.openxmlformats.org/drawingml/2006/main">
            <a:pPr>
              <a:defRPr sz="1875" b="1">
                <a:solidFill>
                  <a:srgbClr val="0B766D"/>
                </a:solidFill>
              </a:defRPr>
            </a:pPr>
            <a:r>
              <a:rPr sz="1875" b="1">
                <a:solidFill>
                  <a:srgbClr val="0B766D"/>
                </a:solidFill>
              </a:rPr>
              <a:t>2</a:t>
            </a:r>
          </a:p>
        </p:txBody>
      </p:sp>
      <p:sp>
        <p:nvSpPr>
          <p:cNvPr id="10" name="">
            <a:extLst xmlns:a="http://schemas.openxmlformats.org/drawingml/2006/main">
              <a:ext uri="{FF2B5EF4-FFF2-40B4-BE49-F238E27FC236}">
                <a16:creationId xmlns:a16="http://schemas.microsoft.com/office/drawing/2014/main" id="{10B7F23A-A0F4-42B0-864C-02BC49494C1A}"/>
              </a:ext>
            </a:extLst>
          </p:cNvPr>
          <p:cNvSpPr>
            <a:spLocks xmlns:a="http://schemas.openxmlformats.org/drawingml/2006/main" noGrp="1"/>
          </p:cNvSpPr>
          <p:nvPr/>
        </p:nvSpPr>
        <p:spPr>
          <a:xfrm xmlns:a="http://schemas.openxmlformats.org/drawingml/2006/main">
            <a:off x="1333500" y="2800350"/>
            <a:ext cx="3667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9232A"/>
                </a:solidFill>
              </a:defRPr>
            </a:defPPr>
            <a:lvl1pPr>
              <a:defRPr sz="1875" b="1">
                <a:solidFill>
                  <a:srgbClr val="19232A"/>
                </a:solidFill>
              </a:defRPr>
            </a:lvl1pPr>
            <a:lvl2pPr>
              <a:defRPr sz="1875" b="1">
                <a:solidFill>
                  <a:srgbClr val="19232A"/>
                </a:solidFill>
              </a:defRPr>
            </a:lvl2pPr>
            <a:lvl3pPr>
              <a:defRPr sz="1875" b="1">
                <a:solidFill>
                  <a:srgbClr val="19232A"/>
                </a:solidFill>
              </a:defRPr>
            </a:lvl3pPr>
            <a:lvl4pPr>
              <a:defRPr sz="1875" b="1">
                <a:solidFill>
                  <a:srgbClr val="19232A"/>
                </a:solidFill>
              </a:defRPr>
            </a:lvl4pPr>
            <a:lvl5pPr>
              <a:defRPr sz="1875" b="1">
                <a:solidFill>
                  <a:srgbClr val="19232A"/>
                </a:solidFill>
              </a:defRPr>
            </a:lvl5pPr>
            <a:lvl6pPr>
              <a:defRPr sz="1875" b="1">
                <a:solidFill>
                  <a:srgbClr val="19232A"/>
                </a:solidFill>
              </a:defRPr>
            </a:lvl6pPr>
            <a:lvl7pPr>
              <a:defRPr sz="1875" b="1">
                <a:solidFill>
                  <a:srgbClr val="19232A"/>
                </a:solidFill>
              </a:defRPr>
            </a:lvl7pPr>
            <a:lvl8pPr>
              <a:defRPr sz="1875" b="1">
                <a:solidFill>
                  <a:srgbClr val="19232A"/>
                </a:solidFill>
              </a:defRPr>
            </a:lvl8pPr>
            <a:lvl9pPr>
              <a:defRPr sz="1875" b="1">
                <a:solidFill>
                  <a:srgbClr val="19232A"/>
                </a:solidFill>
              </a:defRPr>
            </a:lvl9pPr>
          </a:lstStyle>
          <a:p xmlns:a="http://schemas.openxmlformats.org/drawingml/2006/main">
            <a:pPr>
              <a:defRPr sz="1875" b="1">
                <a:solidFill>
                  <a:srgbClr val="19232A"/>
                </a:solidFill>
              </a:defRPr>
            </a:pPr>
            <a:r>
              <a:rPr sz="1875" b="1">
                <a:solidFill>
                  <a:srgbClr val="19232A"/>
                </a:solidFill>
              </a:rPr>
              <a:t>Subscribers A, B, C</a:t>
            </a:r>
          </a:p>
        </p:txBody>
      </p:sp>
      <p:sp>
        <p:nvSpPr>
          <p:cNvPr id="11" name="">
            <a:extLst xmlns:a="http://schemas.openxmlformats.org/drawingml/2006/main">
              <a:ext uri="{FF2B5EF4-FFF2-40B4-BE49-F238E27FC236}">
                <a16:creationId xmlns:a16="http://schemas.microsoft.com/office/drawing/2014/main" id="{F4C4CF33-6254-4F05-87FA-4FDD96954B24}"/>
              </a:ext>
            </a:extLst>
          </p:cNvPr>
          <p:cNvSpPr>
            <a:spLocks xmlns:a="http://schemas.openxmlformats.org/drawingml/2006/main" noGrp="1"/>
          </p:cNvSpPr>
          <p:nvPr/>
        </p:nvSpPr>
        <p:spPr>
          <a:xfrm xmlns:a="http://schemas.openxmlformats.org/drawingml/2006/main">
            <a:off x="5286375" y="280035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9232A"/>
                </a:solidFill>
              </a:defRPr>
            </a:defPPr>
            <a:lvl1pPr>
              <a:defRPr sz="1875" b="0">
                <a:solidFill>
                  <a:srgbClr val="19232A"/>
                </a:solidFill>
              </a:defRPr>
            </a:lvl1pPr>
            <a:lvl2pPr>
              <a:defRPr sz="1875" b="0">
                <a:solidFill>
                  <a:srgbClr val="19232A"/>
                </a:solidFill>
              </a:defRPr>
            </a:lvl2pPr>
            <a:lvl3pPr>
              <a:defRPr sz="1875" b="0">
                <a:solidFill>
                  <a:srgbClr val="19232A"/>
                </a:solidFill>
              </a:defRPr>
            </a:lvl3pPr>
            <a:lvl4pPr>
              <a:defRPr sz="1875" b="0">
                <a:solidFill>
                  <a:srgbClr val="19232A"/>
                </a:solidFill>
              </a:defRPr>
            </a:lvl4pPr>
            <a:lvl5pPr>
              <a:defRPr sz="1875" b="0">
                <a:solidFill>
                  <a:srgbClr val="19232A"/>
                </a:solidFill>
              </a:defRPr>
            </a:lvl5pPr>
            <a:lvl6pPr>
              <a:defRPr sz="1875" b="0">
                <a:solidFill>
                  <a:srgbClr val="19232A"/>
                </a:solidFill>
              </a:defRPr>
            </a:lvl6pPr>
            <a:lvl7pPr>
              <a:defRPr sz="1875" b="0">
                <a:solidFill>
                  <a:srgbClr val="19232A"/>
                </a:solidFill>
              </a:defRPr>
            </a:lvl7pPr>
            <a:lvl8pPr>
              <a:defRPr sz="1875" b="0">
                <a:solidFill>
                  <a:srgbClr val="19232A"/>
                </a:solidFill>
              </a:defRPr>
            </a:lvl8pPr>
            <a:lvl9pPr>
              <a:defRPr sz="1875" b="0">
                <a:solidFill>
                  <a:srgbClr val="19232A"/>
                </a:solidFill>
              </a:defRPr>
            </a:lvl9pPr>
          </a:lstStyle>
          <a:p xmlns:a="http://schemas.openxmlformats.org/drawingml/2006/main">
            <a:pPr>
              <a:defRPr sz="1875" b="0">
                <a:solidFill>
                  <a:srgbClr val="19232A"/>
                </a:solidFill>
              </a:defRPr>
            </a:pPr>
            <a:r>
              <a:rPr sz="1875" b="0">
                <a:solidFill>
                  <a:srgbClr val="19232A"/>
                </a:solidFill>
              </a:rPr>
              <a:t>DISCONNECT; session kept 120 s</a:t>
            </a:r>
          </a:p>
        </p:txBody>
      </p:sp>
      <p:sp>
        <p:nvSpPr>
          <p:cNvPr id="12" name="">
            <a:extLst xmlns:a="http://schemas.openxmlformats.org/drawingml/2006/main">
              <a:ext uri="{FF2B5EF4-FFF2-40B4-BE49-F238E27FC236}">
                <a16:creationId xmlns:a16="http://schemas.microsoft.com/office/drawing/2014/main" id="{7A92F936-69AE-42C1-84A6-675E6E225216}"/>
              </a:ext>
            </a:extLst>
          </p:cNvPr>
          <p:cNvSpPr>
            <a:spLocks xmlns:a="http://schemas.openxmlformats.org/drawingml/2006/main" noGrp="1"/>
          </p:cNvSpPr>
          <p:nvPr/>
        </p:nvSpPr>
        <p:spPr>
          <a:xfrm xmlns:a="http://schemas.openxmlformats.org/drawingml/2006/main">
            <a:off x="762000" y="3505200"/>
            <a:ext cx="103822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21FE0D-4E36-434B-BABE-C94B4CE3C856}"/>
              </a:ext>
            </a:extLst>
          </p:cNvPr>
          <p:cNvSpPr>
            <a:spLocks xmlns:a="http://schemas.openxmlformats.org/drawingml/2006/main" noGrp="1"/>
          </p:cNvSpPr>
          <p:nvPr/>
        </p:nvSpPr>
        <p:spPr>
          <a:xfrm xmlns:a="http://schemas.openxmlformats.org/drawingml/2006/main">
            <a:off x="762000" y="3781425"/>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B766D"/>
                </a:solidFill>
              </a:defRPr>
            </a:defPPr>
            <a:lvl1pPr>
              <a:defRPr sz="1875" b="1">
                <a:solidFill>
                  <a:srgbClr val="0B766D"/>
                </a:solidFill>
              </a:defRPr>
            </a:lvl1pPr>
            <a:lvl2pPr>
              <a:defRPr sz="1875" b="1">
                <a:solidFill>
                  <a:srgbClr val="0B766D"/>
                </a:solidFill>
              </a:defRPr>
            </a:lvl2pPr>
            <a:lvl3pPr>
              <a:defRPr sz="1875" b="1">
                <a:solidFill>
                  <a:srgbClr val="0B766D"/>
                </a:solidFill>
              </a:defRPr>
            </a:lvl3pPr>
            <a:lvl4pPr>
              <a:defRPr sz="1875" b="1">
                <a:solidFill>
                  <a:srgbClr val="0B766D"/>
                </a:solidFill>
              </a:defRPr>
            </a:lvl4pPr>
            <a:lvl5pPr>
              <a:defRPr sz="1875" b="1">
                <a:solidFill>
                  <a:srgbClr val="0B766D"/>
                </a:solidFill>
              </a:defRPr>
            </a:lvl5pPr>
            <a:lvl6pPr>
              <a:defRPr sz="1875" b="1">
                <a:solidFill>
                  <a:srgbClr val="0B766D"/>
                </a:solidFill>
              </a:defRPr>
            </a:lvl6pPr>
            <a:lvl7pPr>
              <a:defRPr sz="1875" b="1">
                <a:solidFill>
                  <a:srgbClr val="0B766D"/>
                </a:solidFill>
              </a:defRPr>
            </a:lvl7pPr>
            <a:lvl8pPr>
              <a:defRPr sz="1875" b="1">
                <a:solidFill>
                  <a:srgbClr val="0B766D"/>
                </a:solidFill>
              </a:defRPr>
            </a:lvl8pPr>
            <a:lvl9pPr>
              <a:defRPr sz="1875" b="1">
                <a:solidFill>
                  <a:srgbClr val="0B766D"/>
                </a:solidFill>
              </a:defRPr>
            </a:lvl9pPr>
          </a:lstStyle>
          <a:p xmlns:a="http://schemas.openxmlformats.org/drawingml/2006/main">
            <a:pPr>
              <a:defRPr sz="1875" b="1">
                <a:solidFill>
                  <a:srgbClr val="0B766D"/>
                </a:solidFill>
              </a:defRPr>
            </a:pPr>
            <a:r>
              <a:rPr sz="1875" b="1">
                <a:solidFill>
                  <a:srgbClr val="0B766D"/>
                </a:solidFill>
              </a:rPr>
              <a:t>3</a:t>
            </a:r>
          </a:p>
        </p:txBody>
      </p:sp>
      <p:sp>
        <p:nvSpPr>
          <p:cNvPr id="14" name="">
            <a:extLst xmlns:a="http://schemas.openxmlformats.org/drawingml/2006/main">
              <a:ext uri="{FF2B5EF4-FFF2-40B4-BE49-F238E27FC236}">
                <a16:creationId xmlns:a16="http://schemas.microsoft.com/office/drawing/2014/main" id="{0E1C88FD-DB3F-4C95-B281-60BA221EE5A4}"/>
              </a:ext>
            </a:extLst>
          </p:cNvPr>
          <p:cNvSpPr>
            <a:spLocks xmlns:a="http://schemas.openxmlformats.org/drawingml/2006/main" noGrp="1"/>
          </p:cNvSpPr>
          <p:nvPr/>
        </p:nvSpPr>
        <p:spPr>
          <a:xfrm xmlns:a="http://schemas.openxmlformats.org/drawingml/2006/main">
            <a:off x="1333500" y="3781425"/>
            <a:ext cx="3667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9232A"/>
                </a:solidFill>
              </a:defRPr>
            </a:defPPr>
            <a:lvl1pPr>
              <a:defRPr sz="1875" b="1">
                <a:solidFill>
                  <a:srgbClr val="19232A"/>
                </a:solidFill>
              </a:defRPr>
            </a:lvl1pPr>
            <a:lvl2pPr>
              <a:defRPr sz="1875" b="1">
                <a:solidFill>
                  <a:srgbClr val="19232A"/>
                </a:solidFill>
              </a:defRPr>
            </a:lvl2pPr>
            <a:lvl3pPr>
              <a:defRPr sz="1875" b="1">
                <a:solidFill>
                  <a:srgbClr val="19232A"/>
                </a:solidFill>
              </a:defRPr>
            </a:lvl3pPr>
            <a:lvl4pPr>
              <a:defRPr sz="1875" b="1">
                <a:solidFill>
                  <a:srgbClr val="19232A"/>
                </a:solidFill>
              </a:defRPr>
            </a:lvl4pPr>
            <a:lvl5pPr>
              <a:defRPr sz="1875" b="1">
                <a:solidFill>
                  <a:srgbClr val="19232A"/>
                </a:solidFill>
              </a:defRPr>
            </a:lvl5pPr>
            <a:lvl6pPr>
              <a:defRPr sz="1875" b="1">
                <a:solidFill>
                  <a:srgbClr val="19232A"/>
                </a:solidFill>
              </a:defRPr>
            </a:lvl6pPr>
            <a:lvl7pPr>
              <a:defRPr sz="1875" b="1">
                <a:solidFill>
                  <a:srgbClr val="19232A"/>
                </a:solidFill>
              </a:defRPr>
            </a:lvl7pPr>
            <a:lvl8pPr>
              <a:defRPr sz="1875" b="1">
                <a:solidFill>
                  <a:srgbClr val="19232A"/>
                </a:solidFill>
              </a:defRPr>
            </a:lvl8pPr>
            <a:lvl9pPr>
              <a:defRPr sz="1875" b="1">
                <a:solidFill>
                  <a:srgbClr val="19232A"/>
                </a:solidFill>
              </a:defRPr>
            </a:lvl9pPr>
          </a:lstStyle>
          <a:p xmlns:a="http://schemas.openxmlformats.org/drawingml/2006/main">
            <a:pPr>
              <a:defRPr sz="1875" b="1">
                <a:solidFill>
                  <a:srgbClr val="19232A"/>
                </a:solidFill>
              </a:defRPr>
            </a:pPr>
            <a:r>
              <a:rPr sz="1875" b="1">
                <a:solidFill>
                  <a:srgbClr val="19232A"/>
                </a:solidFill>
              </a:rPr>
              <a:t>Separate publisher</a:t>
            </a:r>
          </a:p>
        </p:txBody>
      </p:sp>
      <p:sp>
        <p:nvSpPr>
          <p:cNvPr id="15" name="">
            <a:extLst xmlns:a="http://schemas.openxmlformats.org/drawingml/2006/main">
              <a:ext uri="{FF2B5EF4-FFF2-40B4-BE49-F238E27FC236}">
                <a16:creationId xmlns:a16="http://schemas.microsoft.com/office/drawing/2014/main" id="{D9CC5E65-EB24-46CC-9B7E-CE0C9B901400}"/>
              </a:ext>
            </a:extLst>
          </p:cNvPr>
          <p:cNvSpPr>
            <a:spLocks xmlns:a="http://schemas.openxmlformats.org/drawingml/2006/main" noGrp="1"/>
          </p:cNvSpPr>
          <p:nvPr/>
        </p:nvSpPr>
        <p:spPr>
          <a:xfrm xmlns:a="http://schemas.openxmlformats.org/drawingml/2006/main">
            <a:off x="5286375" y="378142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9232A"/>
                </a:solidFill>
              </a:defRPr>
            </a:defPPr>
            <a:lvl1pPr>
              <a:defRPr sz="1875" b="0">
                <a:solidFill>
                  <a:srgbClr val="19232A"/>
                </a:solidFill>
              </a:defRPr>
            </a:lvl1pPr>
            <a:lvl2pPr>
              <a:defRPr sz="1875" b="0">
                <a:solidFill>
                  <a:srgbClr val="19232A"/>
                </a:solidFill>
              </a:defRPr>
            </a:lvl2pPr>
            <a:lvl3pPr>
              <a:defRPr sz="1875" b="0">
                <a:solidFill>
                  <a:srgbClr val="19232A"/>
                </a:solidFill>
              </a:defRPr>
            </a:lvl3pPr>
            <a:lvl4pPr>
              <a:defRPr sz="1875" b="0">
                <a:solidFill>
                  <a:srgbClr val="19232A"/>
                </a:solidFill>
              </a:defRPr>
            </a:lvl4pPr>
            <a:lvl5pPr>
              <a:defRPr sz="1875" b="0">
                <a:solidFill>
                  <a:srgbClr val="19232A"/>
                </a:solidFill>
              </a:defRPr>
            </a:lvl5pPr>
            <a:lvl6pPr>
              <a:defRPr sz="1875" b="0">
                <a:solidFill>
                  <a:srgbClr val="19232A"/>
                </a:solidFill>
              </a:defRPr>
            </a:lvl6pPr>
            <a:lvl7pPr>
              <a:defRPr sz="1875" b="0">
                <a:solidFill>
                  <a:srgbClr val="19232A"/>
                </a:solidFill>
              </a:defRPr>
            </a:lvl7pPr>
            <a:lvl8pPr>
              <a:defRPr sz="1875" b="0">
                <a:solidFill>
                  <a:srgbClr val="19232A"/>
                </a:solidFill>
              </a:defRPr>
            </a:lvl8pPr>
            <a:lvl9pPr>
              <a:defRPr sz="1875" b="0">
                <a:solidFill>
                  <a:srgbClr val="19232A"/>
                </a:solidFill>
              </a:defRPr>
            </a:lvl9pPr>
          </a:lstStyle>
          <a:p xmlns:a="http://schemas.openxmlformats.org/drawingml/2006/main">
            <a:pPr>
              <a:defRPr sz="1875" b="0">
                <a:solidFill>
                  <a:srgbClr val="19232A"/>
                </a:solidFill>
              </a:defRPr>
            </a:pPr>
            <a:r>
              <a:rPr sz="1875" b="0">
                <a:solidFill>
                  <a:srgbClr val="19232A"/>
                </a:solidFill>
              </a:rPr>
              <a:t>Five QoS 1 PUBLISH packets</a:t>
            </a:r>
          </a:p>
        </p:txBody>
      </p:sp>
      <p:sp>
        <p:nvSpPr>
          <p:cNvPr id="16" name="">
            <a:extLst xmlns:a="http://schemas.openxmlformats.org/drawingml/2006/main">
              <a:ext uri="{FF2B5EF4-FFF2-40B4-BE49-F238E27FC236}">
                <a16:creationId xmlns:a16="http://schemas.microsoft.com/office/drawing/2014/main" id="{301AF917-B2D6-4748-AB1D-4222A3F2F599}"/>
              </a:ext>
            </a:extLst>
          </p:cNvPr>
          <p:cNvSpPr>
            <a:spLocks xmlns:a="http://schemas.openxmlformats.org/drawingml/2006/main" noGrp="1"/>
          </p:cNvSpPr>
          <p:nvPr/>
        </p:nvSpPr>
        <p:spPr>
          <a:xfrm xmlns:a="http://schemas.openxmlformats.org/drawingml/2006/main">
            <a:off x="762000" y="4486275"/>
            <a:ext cx="103822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495EFB-5166-4CA8-8DA7-5AA629D43BCC}"/>
              </a:ext>
            </a:extLst>
          </p:cNvPr>
          <p:cNvSpPr>
            <a:spLocks xmlns:a="http://schemas.openxmlformats.org/drawingml/2006/main" noGrp="1"/>
          </p:cNvSpPr>
          <p:nvPr/>
        </p:nvSpPr>
        <p:spPr>
          <a:xfrm xmlns:a="http://schemas.openxmlformats.org/drawingml/2006/main">
            <a:off x="762000" y="4762500"/>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B766D"/>
                </a:solidFill>
              </a:defRPr>
            </a:defPPr>
            <a:lvl1pPr>
              <a:defRPr sz="1875" b="1">
                <a:solidFill>
                  <a:srgbClr val="0B766D"/>
                </a:solidFill>
              </a:defRPr>
            </a:lvl1pPr>
            <a:lvl2pPr>
              <a:defRPr sz="1875" b="1">
                <a:solidFill>
                  <a:srgbClr val="0B766D"/>
                </a:solidFill>
              </a:defRPr>
            </a:lvl2pPr>
            <a:lvl3pPr>
              <a:defRPr sz="1875" b="1">
                <a:solidFill>
                  <a:srgbClr val="0B766D"/>
                </a:solidFill>
              </a:defRPr>
            </a:lvl3pPr>
            <a:lvl4pPr>
              <a:defRPr sz="1875" b="1">
                <a:solidFill>
                  <a:srgbClr val="0B766D"/>
                </a:solidFill>
              </a:defRPr>
            </a:lvl4pPr>
            <a:lvl5pPr>
              <a:defRPr sz="1875" b="1">
                <a:solidFill>
                  <a:srgbClr val="0B766D"/>
                </a:solidFill>
              </a:defRPr>
            </a:lvl5pPr>
            <a:lvl6pPr>
              <a:defRPr sz="1875" b="1">
                <a:solidFill>
                  <a:srgbClr val="0B766D"/>
                </a:solidFill>
              </a:defRPr>
            </a:lvl6pPr>
            <a:lvl7pPr>
              <a:defRPr sz="1875" b="1">
                <a:solidFill>
                  <a:srgbClr val="0B766D"/>
                </a:solidFill>
              </a:defRPr>
            </a:lvl7pPr>
            <a:lvl8pPr>
              <a:defRPr sz="1875" b="1">
                <a:solidFill>
                  <a:srgbClr val="0B766D"/>
                </a:solidFill>
              </a:defRPr>
            </a:lvl8pPr>
            <a:lvl9pPr>
              <a:defRPr sz="1875" b="1">
                <a:solidFill>
                  <a:srgbClr val="0B766D"/>
                </a:solidFill>
              </a:defRPr>
            </a:lvl9pPr>
          </a:lstStyle>
          <a:p xmlns:a="http://schemas.openxmlformats.org/drawingml/2006/main">
            <a:pPr>
              <a:defRPr sz="1875" b="1">
                <a:solidFill>
                  <a:srgbClr val="0B766D"/>
                </a:solidFill>
              </a:defRPr>
            </a:pPr>
            <a:r>
              <a:rPr sz="1875" b="1">
                <a:solidFill>
                  <a:srgbClr val="0B766D"/>
                </a:solidFill>
              </a:rPr>
              <a:t>4</a:t>
            </a:r>
          </a:p>
        </p:txBody>
      </p:sp>
      <p:sp>
        <p:nvSpPr>
          <p:cNvPr id="18" name="">
            <a:extLst xmlns:a="http://schemas.openxmlformats.org/drawingml/2006/main">
              <a:ext uri="{FF2B5EF4-FFF2-40B4-BE49-F238E27FC236}">
                <a16:creationId xmlns:a16="http://schemas.microsoft.com/office/drawing/2014/main" id="{E2A2513A-73CD-42DE-AD87-63AD65F21CC9}"/>
              </a:ext>
            </a:extLst>
          </p:cNvPr>
          <p:cNvSpPr>
            <a:spLocks xmlns:a="http://schemas.openxmlformats.org/drawingml/2006/main" noGrp="1"/>
          </p:cNvSpPr>
          <p:nvPr/>
        </p:nvSpPr>
        <p:spPr>
          <a:xfrm xmlns:a="http://schemas.openxmlformats.org/drawingml/2006/main">
            <a:off x="1333500" y="4762500"/>
            <a:ext cx="3667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9232A"/>
                </a:solidFill>
              </a:defRPr>
            </a:defPPr>
            <a:lvl1pPr>
              <a:defRPr sz="1875" b="1">
                <a:solidFill>
                  <a:srgbClr val="19232A"/>
                </a:solidFill>
              </a:defRPr>
            </a:lvl1pPr>
            <a:lvl2pPr>
              <a:defRPr sz="1875" b="1">
                <a:solidFill>
                  <a:srgbClr val="19232A"/>
                </a:solidFill>
              </a:defRPr>
            </a:lvl2pPr>
            <a:lvl3pPr>
              <a:defRPr sz="1875" b="1">
                <a:solidFill>
                  <a:srgbClr val="19232A"/>
                </a:solidFill>
              </a:defRPr>
            </a:lvl3pPr>
            <a:lvl4pPr>
              <a:defRPr sz="1875" b="1">
                <a:solidFill>
                  <a:srgbClr val="19232A"/>
                </a:solidFill>
              </a:defRPr>
            </a:lvl4pPr>
            <a:lvl5pPr>
              <a:defRPr sz="1875" b="1">
                <a:solidFill>
                  <a:srgbClr val="19232A"/>
                </a:solidFill>
              </a:defRPr>
            </a:lvl5pPr>
            <a:lvl6pPr>
              <a:defRPr sz="1875" b="1">
                <a:solidFill>
                  <a:srgbClr val="19232A"/>
                </a:solidFill>
              </a:defRPr>
            </a:lvl6pPr>
            <a:lvl7pPr>
              <a:defRPr sz="1875" b="1">
                <a:solidFill>
                  <a:srgbClr val="19232A"/>
                </a:solidFill>
              </a:defRPr>
            </a:lvl7pPr>
            <a:lvl8pPr>
              <a:defRPr sz="1875" b="1">
                <a:solidFill>
                  <a:srgbClr val="19232A"/>
                </a:solidFill>
              </a:defRPr>
            </a:lvl8pPr>
            <a:lvl9pPr>
              <a:defRPr sz="1875" b="1">
                <a:solidFill>
                  <a:srgbClr val="19232A"/>
                </a:solidFill>
              </a:defRPr>
            </a:lvl9pPr>
          </a:lstStyle>
          <a:p xmlns:a="http://schemas.openxmlformats.org/drawingml/2006/main">
            <a:pPr>
              <a:defRPr sz="1875" b="1">
                <a:solidFill>
                  <a:srgbClr val="19232A"/>
                </a:solidFill>
              </a:defRPr>
            </a:pPr>
            <a:r>
              <a:rPr sz="1875" b="1">
                <a:solidFill>
                  <a:srgbClr val="19232A"/>
                </a:solidFill>
              </a:rPr>
              <a:t>Subscribers A, B, C</a:t>
            </a:r>
          </a:p>
        </p:txBody>
      </p:sp>
      <p:sp>
        <p:nvSpPr>
          <p:cNvPr id="19" name="">
            <a:extLst xmlns:a="http://schemas.openxmlformats.org/drawingml/2006/main">
              <a:ext uri="{FF2B5EF4-FFF2-40B4-BE49-F238E27FC236}">
                <a16:creationId xmlns:a16="http://schemas.microsoft.com/office/drawing/2014/main" id="{16BA5976-3DE4-4F0A-A011-F4D29E28F0B9}"/>
              </a:ext>
            </a:extLst>
          </p:cNvPr>
          <p:cNvSpPr>
            <a:spLocks xmlns:a="http://schemas.openxmlformats.org/drawingml/2006/main" noGrp="1"/>
          </p:cNvSpPr>
          <p:nvPr/>
        </p:nvSpPr>
        <p:spPr>
          <a:xfrm xmlns:a="http://schemas.openxmlformats.org/drawingml/2006/main">
            <a:off x="5286375" y="476250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9232A"/>
                </a:solidFill>
              </a:defRPr>
            </a:defPPr>
            <a:lvl1pPr>
              <a:defRPr sz="1875" b="0">
                <a:solidFill>
                  <a:srgbClr val="19232A"/>
                </a:solidFill>
              </a:defRPr>
            </a:lvl1pPr>
            <a:lvl2pPr>
              <a:defRPr sz="1875" b="0">
                <a:solidFill>
                  <a:srgbClr val="19232A"/>
                </a:solidFill>
              </a:defRPr>
            </a:lvl2pPr>
            <a:lvl3pPr>
              <a:defRPr sz="1875" b="0">
                <a:solidFill>
                  <a:srgbClr val="19232A"/>
                </a:solidFill>
              </a:defRPr>
            </a:lvl3pPr>
            <a:lvl4pPr>
              <a:defRPr sz="1875" b="0">
                <a:solidFill>
                  <a:srgbClr val="19232A"/>
                </a:solidFill>
              </a:defRPr>
            </a:lvl4pPr>
            <a:lvl5pPr>
              <a:defRPr sz="1875" b="0">
                <a:solidFill>
                  <a:srgbClr val="19232A"/>
                </a:solidFill>
              </a:defRPr>
            </a:lvl5pPr>
            <a:lvl6pPr>
              <a:defRPr sz="1875" b="0">
                <a:solidFill>
                  <a:srgbClr val="19232A"/>
                </a:solidFill>
              </a:defRPr>
            </a:lvl6pPr>
            <a:lvl7pPr>
              <a:defRPr sz="1875" b="0">
                <a:solidFill>
                  <a:srgbClr val="19232A"/>
                </a:solidFill>
              </a:defRPr>
            </a:lvl7pPr>
            <a:lvl8pPr>
              <a:defRPr sz="1875" b="0">
                <a:solidFill>
                  <a:srgbClr val="19232A"/>
                </a:solidFill>
              </a:defRPr>
            </a:lvl8pPr>
            <a:lvl9pPr>
              <a:defRPr sz="1875" b="0">
                <a:solidFill>
                  <a:srgbClr val="19232A"/>
                </a:solidFill>
              </a:defRPr>
            </a:lvl9pPr>
          </a:lstStyle>
          <a:p xmlns:a="http://schemas.openxmlformats.org/drawingml/2006/main">
            <a:pPr>
              <a:defRPr sz="1875" b="0">
                <a:solidFill>
                  <a:srgbClr val="19232A"/>
                </a:solidFill>
              </a:defRPr>
            </a:pPr>
            <a:r>
              <a:rPr sz="1875" b="0">
                <a:solidFill>
                  <a:srgbClr val="19232A"/>
                </a:solidFill>
              </a:rPr>
              <a:t>Reconnect; queued delivery</a:t>
            </a:r>
          </a:p>
        </p:txBody>
      </p:sp>
      <p:sp>
        <p:nvSpPr>
          <p:cNvPr id="20" name="">
            <a:extLst xmlns:a="http://schemas.openxmlformats.org/drawingml/2006/main">
              <a:ext uri="{FF2B5EF4-FFF2-40B4-BE49-F238E27FC236}">
                <a16:creationId xmlns:a16="http://schemas.microsoft.com/office/drawing/2014/main" id="{AF6BFCE5-6734-4E0D-A36D-2B23A571F741}"/>
              </a:ext>
            </a:extLst>
          </p:cNvPr>
          <p:cNvSpPr>
            <a:spLocks xmlns:a="http://schemas.openxmlformats.org/drawingml/2006/main" noGrp="1"/>
          </p:cNvSpPr>
          <p:nvPr/>
        </p:nvSpPr>
        <p:spPr>
          <a:xfrm xmlns:a="http://schemas.openxmlformats.org/drawingml/2006/main">
            <a:off x="762000" y="5467350"/>
            <a:ext cx="103822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Tree>
    <p:extLst>
      <p:ext uri="{BB962C8B-B14F-4D97-AF65-F5344CB8AC3E}">
        <p14:creationId xmlns:p14="http://schemas.microsoft.com/office/powerpoint/2010/main" val="1441171623"/>
      </p:ext>
    </p:extLst>
  </p:cSld>
</p:sld>
</file>

<file path=ppt/slides/slide4.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95219B-4C62-4FA8-B198-3B8A6FD38C7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5E5EA3-C246-4894-A6F4-455E693E2FFC}"/>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What earlier work already covers</a:t>
            </a:r>
          </a:p>
        </p:txBody>
      </p:sp>
      <p:sp>
        <p:nvSpPr>
          <p:cNvPr id="3" name="">
            <a:extLst xmlns:a="http://schemas.openxmlformats.org/drawingml/2006/main">
              <a:ext uri="{FF2B5EF4-FFF2-40B4-BE49-F238E27FC236}">
                <a16:creationId xmlns:a16="http://schemas.microsoft.com/office/drawing/2014/main" id="{28B727CC-8431-4833-95C7-6FF40ADA433C}"/>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8EC296-F87A-4525-8EA2-9727035205C9}"/>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4/9</a:t>
            </a:r>
          </a:p>
        </p:txBody>
      </p:sp>
      <p:sp>
        <p:nvSpPr>
          <p:cNvPr id="5" name="">
            <a:extLst xmlns:a="http://schemas.openxmlformats.org/drawingml/2006/main">
              <a:ext uri="{FF2B5EF4-FFF2-40B4-BE49-F238E27FC236}">
                <a16:creationId xmlns:a16="http://schemas.microsoft.com/office/drawing/2014/main" id="{CF7308E7-82D6-4672-94DB-CEE42F5C5684}"/>
              </a:ext>
            </a:extLst>
          </p:cNvPr>
          <p:cNvSpPr>
            <a:spLocks xmlns:a="http://schemas.openxmlformats.org/drawingml/2006/main" noGrp="1"/>
          </p:cNvSpPr>
          <p:nvPr/>
        </p:nvSpPr>
        <p:spPr>
          <a:xfrm xmlns:a="http://schemas.openxmlformats.org/drawingml/2006/main">
            <a:off x="742950" y="1790700"/>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B766D"/>
                </a:solidFill>
              </a:defRPr>
            </a:defPPr>
            <a:lvl1pPr>
              <a:defRPr sz="2100" b="1">
                <a:solidFill>
                  <a:srgbClr val="0B766D"/>
                </a:solidFill>
              </a:defRPr>
            </a:lvl1pPr>
            <a:lvl2pPr>
              <a:defRPr sz="2100" b="1">
                <a:solidFill>
                  <a:srgbClr val="0B766D"/>
                </a:solidFill>
              </a:defRPr>
            </a:lvl2pPr>
            <a:lvl3pPr>
              <a:defRPr sz="2100" b="1">
                <a:solidFill>
                  <a:srgbClr val="0B766D"/>
                </a:solidFill>
              </a:defRPr>
            </a:lvl3pPr>
            <a:lvl4pPr>
              <a:defRPr sz="2100" b="1">
                <a:solidFill>
                  <a:srgbClr val="0B766D"/>
                </a:solidFill>
              </a:defRPr>
            </a:lvl4pPr>
            <a:lvl5pPr>
              <a:defRPr sz="2100" b="1">
                <a:solidFill>
                  <a:srgbClr val="0B766D"/>
                </a:solidFill>
              </a:defRPr>
            </a:lvl5pPr>
            <a:lvl6pPr>
              <a:defRPr sz="2100" b="1">
                <a:solidFill>
                  <a:srgbClr val="0B766D"/>
                </a:solidFill>
              </a:defRPr>
            </a:lvl6pPr>
            <a:lvl7pPr>
              <a:defRPr sz="2100" b="1">
                <a:solidFill>
                  <a:srgbClr val="0B766D"/>
                </a:solidFill>
              </a:defRPr>
            </a:lvl7pPr>
            <a:lvl8pPr>
              <a:defRPr sz="2100" b="1">
                <a:solidFill>
                  <a:srgbClr val="0B766D"/>
                </a:solidFill>
              </a:defRPr>
            </a:lvl8pPr>
            <a:lvl9pPr>
              <a:defRPr sz="2100" b="1">
                <a:solidFill>
                  <a:srgbClr val="0B766D"/>
                </a:solidFill>
              </a:defRPr>
            </a:lvl9pPr>
          </a:lstStyle>
          <a:p xmlns:a="http://schemas.openxmlformats.org/drawingml/2006/main">
            <a:pPr>
              <a:defRPr sz="2100" b="1">
                <a:solidFill>
                  <a:srgbClr val="0B766D"/>
                </a:solidFill>
              </a:defRPr>
            </a:pPr>
            <a:r>
              <a:rPr sz="2100" b="1">
                <a:solidFill>
                  <a:srgbClr val="0B766D"/>
                </a:solidFill>
              </a:rPr>
              <a:t>MBFuzzer (2025)</a:t>
            </a:r>
          </a:p>
        </p:txBody>
      </p:sp>
      <p:sp>
        <p:nvSpPr>
          <p:cNvPr id="6" name="">
            <a:extLst xmlns:a="http://schemas.openxmlformats.org/drawingml/2006/main">
              <a:ext uri="{FF2B5EF4-FFF2-40B4-BE49-F238E27FC236}">
                <a16:creationId xmlns:a16="http://schemas.microsoft.com/office/drawing/2014/main" id="{5AE64810-432A-4906-8595-9E099C150E5D}"/>
              </a:ext>
            </a:extLst>
          </p:cNvPr>
          <p:cNvSpPr>
            <a:spLocks xmlns:a="http://schemas.openxmlformats.org/drawingml/2006/main" noGrp="1"/>
          </p:cNvSpPr>
          <p:nvPr/>
        </p:nvSpPr>
        <p:spPr>
          <a:xfrm xmlns:a="http://schemas.openxmlformats.org/drawingml/2006/main">
            <a:off x="4095750" y="1809750"/>
            <a:ext cx="723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9232A"/>
                </a:solidFill>
              </a:defRPr>
            </a:defPPr>
            <a:lvl1pPr>
              <a:defRPr sz="1800" b="0">
                <a:solidFill>
                  <a:srgbClr val="19232A"/>
                </a:solidFill>
              </a:defRPr>
            </a:lvl1pPr>
            <a:lvl2pPr>
              <a:defRPr sz="1800" b="0">
                <a:solidFill>
                  <a:srgbClr val="19232A"/>
                </a:solidFill>
              </a:defRPr>
            </a:lvl2pPr>
            <a:lvl3pPr>
              <a:defRPr sz="1800" b="0">
                <a:solidFill>
                  <a:srgbClr val="19232A"/>
                </a:solidFill>
              </a:defRPr>
            </a:lvl3pPr>
            <a:lvl4pPr>
              <a:defRPr sz="1800" b="0">
                <a:solidFill>
                  <a:srgbClr val="19232A"/>
                </a:solidFill>
              </a:defRPr>
            </a:lvl4pPr>
            <a:lvl5pPr>
              <a:defRPr sz="1800" b="0">
                <a:solidFill>
                  <a:srgbClr val="19232A"/>
                </a:solidFill>
              </a:defRPr>
            </a:lvl5pPr>
            <a:lvl6pPr>
              <a:defRPr sz="1800" b="0">
                <a:solidFill>
                  <a:srgbClr val="19232A"/>
                </a:solidFill>
              </a:defRPr>
            </a:lvl6pPr>
            <a:lvl7pPr>
              <a:defRPr sz="1800" b="0">
                <a:solidFill>
                  <a:srgbClr val="19232A"/>
                </a:solidFill>
              </a:defRPr>
            </a:lvl7pPr>
            <a:lvl8pPr>
              <a:defRPr sz="1800" b="0">
                <a:solidFill>
                  <a:srgbClr val="19232A"/>
                </a:solidFill>
              </a:defRPr>
            </a:lvl8pPr>
            <a:lvl9pPr>
              <a:defRPr sz="1800" b="0">
                <a:solidFill>
                  <a:srgbClr val="19232A"/>
                </a:solidFill>
              </a:defRPr>
            </a:lvl9pPr>
          </a:lstStyle>
          <a:p xmlns:a="http://schemas.openxmlformats.org/drawingml/2006/main">
            <a:pPr>
              <a:defRPr sz="1800" b="0">
                <a:solidFill>
                  <a:srgbClr val="19232A"/>
                </a:solidFill>
              </a:defRPr>
            </a:pPr>
            <a:r>
              <a:rPr sz="1800" b="0">
                <a:solidFill>
                  <a:srgbClr val="19232A"/>
                </a:solidFill>
              </a:rPr>
              <a:t>Multi-party MQTT fuzzing on six brokers; 73 bugs reported.</a:t>
            </a:r>
          </a:p>
        </p:txBody>
      </p:sp>
      <p:sp>
        <p:nvSpPr>
          <p:cNvPr id="7" name="">
            <a:extLst xmlns:a="http://schemas.openxmlformats.org/drawingml/2006/main">
              <a:ext uri="{FF2B5EF4-FFF2-40B4-BE49-F238E27FC236}">
                <a16:creationId xmlns:a16="http://schemas.microsoft.com/office/drawing/2014/main" id="{1299F1B1-90CA-4C93-B2B6-C8FF4CAC9EBC}"/>
              </a:ext>
            </a:extLst>
          </p:cNvPr>
          <p:cNvSpPr>
            <a:spLocks xmlns:a="http://schemas.openxmlformats.org/drawingml/2006/main" noGrp="1"/>
          </p:cNvSpPr>
          <p:nvPr/>
        </p:nvSpPr>
        <p:spPr>
          <a:xfrm xmlns:a="http://schemas.openxmlformats.org/drawingml/2006/main">
            <a:off x="742950" y="2790825"/>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B766D"/>
                </a:solidFill>
              </a:defRPr>
            </a:defPPr>
            <a:lvl1pPr>
              <a:defRPr sz="2025" b="1">
                <a:solidFill>
                  <a:srgbClr val="0B766D"/>
                </a:solidFill>
              </a:defRPr>
            </a:lvl1pPr>
            <a:lvl2pPr>
              <a:defRPr sz="2025" b="1">
                <a:solidFill>
                  <a:srgbClr val="0B766D"/>
                </a:solidFill>
              </a:defRPr>
            </a:lvl2pPr>
            <a:lvl3pPr>
              <a:defRPr sz="2025" b="1">
                <a:solidFill>
                  <a:srgbClr val="0B766D"/>
                </a:solidFill>
              </a:defRPr>
            </a:lvl3pPr>
            <a:lvl4pPr>
              <a:defRPr sz="2025" b="1">
                <a:solidFill>
                  <a:srgbClr val="0B766D"/>
                </a:solidFill>
              </a:defRPr>
            </a:lvl4pPr>
            <a:lvl5pPr>
              <a:defRPr sz="2025" b="1">
                <a:solidFill>
                  <a:srgbClr val="0B766D"/>
                </a:solidFill>
              </a:defRPr>
            </a:lvl5pPr>
            <a:lvl6pPr>
              <a:defRPr sz="2025" b="1">
                <a:solidFill>
                  <a:srgbClr val="0B766D"/>
                </a:solidFill>
              </a:defRPr>
            </a:lvl6pPr>
            <a:lvl7pPr>
              <a:defRPr sz="2025" b="1">
                <a:solidFill>
                  <a:srgbClr val="0B766D"/>
                </a:solidFill>
              </a:defRPr>
            </a:lvl7pPr>
            <a:lvl8pPr>
              <a:defRPr sz="2025" b="1">
                <a:solidFill>
                  <a:srgbClr val="0B766D"/>
                </a:solidFill>
              </a:defRPr>
            </a:lvl8pPr>
            <a:lvl9pPr>
              <a:defRPr sz="2025" b="1">
                <a:solidFill>
                  <a:srgbClr val="0B766D"/>
                </a:solidFill>
              </a:defRPr>
            </a:lvl9pPr>
          </a:lstStyle>
          <a:p xmlns:a="http://schemas.openxmlformats.org/drawingml/2006/main">
            <a:pPr>
              <a:defRPr sz="2025" b="1">
                <a:solidFill>
                  <a:srgbClr val="0B766D"/>
                </a:solidFill>
              </a:defRPr>
            </a:pPr>
            <a:r>
              <a:rPr sz="2025" b="1">
                <a:solidFill>
                  <a:srgbClr val="0B766D"/>
                </a:solidFill>
              </a:rPr>
              <a:t>ProtocolGuard (2026)</a:t>
            </a:r>
          </a:p>
        </p:txBody>
      </p:sp>
      <p:sp>
        <p:nvSpPr>
          <p:cNvPr id="8" name="">
            <a:extLst xmlns:a="http://schemas.openxmlformats.org/drawingml/2006/main">
              <a:ext uri="{FF2B5EF4-FFF2-40B4-BE49-F238E27FC236}">
                <a16:creationId xmlns:a16="http://schemas.microsoft.com/office/drawing/2014/main" id="{DE1E1290-DA80-4E7F-8F9D-65AED661C91B}"/>
              </a:ext>
            </a:extLst>
          </p:cNvPr>
          <p:cNvSpPr>
            <a:spLocks xmlns:a="http://schemas.openxmlformats.org/drawingml/2006/main" noGrp="1"/>
          </p:cNvSpPr>
          <p:nvPr/>
        </p:nvSpPr>
        <p:spPr>
          <a:xfrm xmlns:a="http://schemas.openxmlformats.org/drawingml/2006/main">
            <a:off x="4095750" y="2809875"/>
            <a:ext cx="723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9232A"/>
                </a:solidFill>
              </a:defRPr>
            </a:defPPr>
            <a:lvl1pPr>
              <a:defRPr sz="1800" b="0">
                <a:solidFill>
                  <a:srgbClr val="19232A"/>
                </a:solidFill>
              </a:defRPr>
            </a:lvl1pPr>
            <a:lvl2pPr>
              <a:defRPr sz="1800" b="0">
                <a:solidFill>
                  <a:srgbClr val="19232A"/>
                </a:solidFill>
              </a:defRPr>
            </a:lvl2pPr>
            <a:lvl3pPr>
              <a:defRPr sz="1800" b="0">
                <a:solidFill>
                  <a:srgbClr val="19232A"/>
                </a:solidFill>
              </a:defRPr>
            </a:lvl3pPr>
            <a:lvl4pPr>
              <a:defRPr sz="1800" b="0">
                <a:solidFill>
                  <a:srgbClr val="19232A"/>
                </a:solidFill>
              </a:defRPr>
            </a:lvl4pPr>
            <a:lvl5pPr>
              <a:defRPr sz="1800" b="0">
                <a:solidFill>
                  <a:srgbClr val="19232A"/>
                </a:solidFill>
              </a:defRPr>
            </a:lvl5pPr>
            <a:lvl6pPr>
              <a:defRPr sz="1800" b="0">
                <a:solidFill>
                  <a:srgbClr val="19232A"/>
                </a:solidFill>
              </a:defRPr>
            </a:lvl6pPr>
            <a:lvl7pPr>
              <a:defRPr sz="1800" b="0">
                <a:solidFill>
                  <a:srgbClr val="19232A"/>
                </a:solidFill>
              </a:defRPr>
            </a:lvl7pPr>
            <a:lvl8pPr>
              <a:defRPr sz="1800" b="0">
                <a:solidFill>
                  <a:srgbClr val="19232A"/>
                </a:solidFill>
              </a:defRPr>
            </a:lvl8pPr>
            <a:lvl9pPr>
              <a:defRPr sz="1800" b="0">
                <a:solidFill>
                  <a:srgbClr val="19232A"/>
                </a:solidFill>
              </a:defRPr>
            </a:lvl9pPr>
          </a:lstStyle>
          <a:p xmlns:a="http://schemas.openxmlformats.org/drawingml/2006/main">
            <a:pPr>
              <a:defRPr sz="1800" b="0">
                <a:solidFill>
                  <a:srgbClr val="19232A"/>
                </a:solidFill>
              </a:defRPr>
            </a:pPr>
            <a:r>
              <a:rPr sz="1800" b="0">
                <a:solidFill>
                  <a:srgbClr val="19232A"/>
                </a:solidFill>
              </a:rPr>
              <a:t>Static and dynamic detection of protocol non-compliance.</a:t>
            </a:r>
          </a:p>
        </p:txBody>
      </p:sp>
      <p:sp>
        <p:nvSpPr>
          <p:cNvPr id="9" name="">
            <a:extLst xmlns:a="http://schemas.openxmlformats.org/drawingml/2006/main">
              <a:ext uri="{FF2B5EF4-FFF2-40B4-BE49-F238E27FC236}">
                <a16:creationId xmlns:a16="http://schemas.microsoft.com/office/drawing/2014/main" id="{9F894860-DFBA-4ACA-8BCB-ED7599D3820F}"/>
              </a:ext>
            </a:extLst>
          </p:cNvPr>
          <p:cNvSpPr>
            <a:spLocks xmlns:a="http://schemas.openxmlformats.org/drawingml/2006/main" noGrp="1"/>
          </p:cNvSpPr>
          <p:nvPr/>
        </p:nvSpPr>
        <p:spPr>
          <a:xfrm xmlns:a="http://schemas.openxmlformats.org/drawingml/2006/main">
            <a:off x="742950" y="3790950"/>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B766D"/>
                </a:solidFill>
              </a:defRPr>
            </a:defPPr>
            <a:lvl1pPr>
              <a:defRPr sz="2025" b="1">
                <a:solidFill>
                  <a:srgbClr val="0B766D"/>
                </a:solidFill>
              </a:defRPr>
            </a:lvl1pPr>
            <a:lvl2pPr>
              <a:defRPr sz="2025" b="1">
                <a:solidFill>
                  <a:srgbClr val="0B766D"/>
                </a:solidFill>
              </a:defRPr>
            </a:lvl2pPr>
            <a:lvl3pPr>
              <a:defRPr sz="2025" b="1">
                <a:solidFill>
                  <a:srgbClr val="0B766D"/>
                </a:solidFill>
              </a:defRPr>
            </a:lvl3pPr>
            <a:lvl4pPr>
              <a:defRPr sz="2025" b="1">
                <a:solidFill>
                  <a:srgbClr val="0B766D"/>
                </a:solidFill>
              </a:defRPr>
            </a:lvl4pPr>
            <a:lvl5pPr>
              <a:defRPr sz="2025" b="1">
                <a:solidFill>
                  <a:srgbClr val="0B766D"/>
                </a:solidFill>
              </a:defRPr>
            </a:lvl5pPr>
            <a:lvl6pPr>
              <a:defRPr sz="2025" b="1">
                <a:solidFill>
                  <a:srgbClr val="0B766D"/>
                </a:solidFill>
              </a:defRPr>
            </a:lvl6pPr>
            <a:lvl7pPr>
              <a:defRPr sz="2025" b="1">
                <a:solidFill>
                  <a:srgbClr val="0B766D"/>
                </a:solidFill>
              </a:defRPr>
            </a:lvl7pPr>
            <a:lvl8pPr>
              <a:defRPr sz="2025" b="1">
                <a:solidFill>
                  <a:srgbClr val="0B766D"/>
                </a:solidFill>
              </a:defRPr>
            </a:lvl8pPr>
            <a:lvl9pPr>
              <a:defRPr sz="2025" b="1">
                <a:solidFill>
                  <a:srgbClr val="0B766D"/>
                </a:solidFill>
              </a:defRPr>
            </a:lvl9pPr>
          </a:lstStyle>
          <a:p xmlns:a="http://schemas.openxmlformats.org/drawingml/2006/main">
            <a:pPr>
              <a:defRPr sz="2025" b="1">
                <a:solidFill>
                  <a:srgbClr val="0B766D"/>
                </a:solidFill>
              </a:defRPr>
            </a:pPr>
            <a:r>
              <a:rPr sz="2025" b="1">
                <a:solidFill>
                  <a:srgbClr val="0B766D"/>
                </a:solidFill>
              </a:rPr>
              <a:t>MQTT-I / SIMMS</a:t>
            </a:r>
          </a:p>
        </p:txBody>
      </p:sp>
      <p:sp>
        <p:nvSpPr>
          <p:cNvPr id="10" name="">
            <a:extLst xmlns:a="http://schemas.openxmlformats.org/drawingml/2006/main">
              <a:ext uri="{FF2B5EF4-FFF2-40B4-BE49-F238E27FC236}">
                <a16:creationId xmlns:a16="http://schemas.microsoft.com/office/drawing/2014/main" id="{3E850587-0A17-4358-95BA-3913A30CE429}"/>
              </a:ext>
            </a:extLst>
          </p:cNvPr>
          <p:cNvSpPr>
            <a:spLocks xmlns:a="http://schemas.openxmlformats.org/drawingml/2006/main" noGrp="1"/>
          </p:cNvSpPr>
          <p:nvPr/>
        </p:nvSpPr>
        <p:spPr>
          <a:xfrm xmlns:a="http://schemas.openxmlformats.org/drawingml/2006/main">
            <a:off x="4095750" y="38100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9232A"/>
                </a:solidFill>
              </a:defRPr>
            </a:defPPr>
            <a:lvl1pPr>
              <a:defRPr sz="1800" b="0">
                <a:solidFill>
                  <a:srgbClr val="19232A"/>
                </a:solidFill>
              </a:defRPr>
            </a:lvl1pPr>
            <a:lvl2pPr>
              <a:defRPr sz="1800" b="0">
                <a:solidFill>
                  <a:srgbClr val="19232A"/>
                </a:solidFill>
              </a:defRPr>
            </a:lvl2pPr>
            <a:lvl3pPr>
              <a:defRPr sz="1800" b="0">
                <a:solidFill>
                  <a:srgbClr val="19232A"/>
                </a:solidFill>
              </a:defRPr>
            </a:lvl3pPr>
            <a:lvl4pPr>
              <a:defRPr sz="1800" b="0">
                <a:solidFill>
                  <a:srgbClr val="19232A"/>
                </a:solidFill>
              </a:defRPr>
            </a:lvl4pPr>
            <a:lvl5pPr>
              <a:defRPr sz="1800" b="0">
                <a:solidFill>
                  <a:srgbClr val="19232A"/>
                </a:solidFill>
              </a:defRPr>
            </a:lvl5pPr>
            <a:lvl6pPr>
              <a:defRPr sz="1800" b="0">
                <a:solidFill>
                  <a:srgbClr val="19232A"/>
                </a:solidFill>
              </a:defRPr>
            </a:lvl6pPr>
            <a:lvl7pPr>
              <a:defRPr sz="1800" b="0">
                <a:solidFill>
                  <a:srgbClr val="19232A"/>
                </a:solidFill>
              </a:defRPr>
            </a:lvl7pPr>
            <a:lvl8pPr>
              <a:defRPr sz="1800" b="0">
                <a:solidFill>
                  <a:srgbClr val="19232A"/>
                </a:solidFill>
              </a:defRPr>
            </a:lvl8pPr>
            <a:lvl9pPr>
              <a:defRPr sz="1800" b="0">
                <a:solidFill>
                  <a:srgbClr val="19232A"/>
                </a:solidFill>
              </a:defRPr>
            </a:lvl9pPr>
          </a:lstStyle>
          <a:p xmlns:a="http://schemas.openxmlformats.org/drawingml/2006/main">
            <a:pPr>
              <a:defRPr sz="1800" b="0">
                <a:solidFill>
                  <a:srgbClr val="19232A"/>
                </a:solidFill>
              </a:defRPr>
            </a:pPr>
            <a:r>
              <a:rPr sz="1800" b="0">
                <a:solidFill>
                  <a:srgbClr val="19232A"/>
                </a:solidFill>
              </a:rPr>
              <a:t>Integrity with an untrusted broker / wider IoT gateway security.</a:t>
            </a:r>
          </a:p>
        </p:txBody>
      </p:sp>
      <p:sp>
        <p:nvSpPr>
          <p:cNvPr id="11" name="">
            <a:extLst xmlns:a="http://schemas.openxmlformats.org/drawingml/2006/main">
              <a:ext uri="{FF2B5EF4-FFF2-40B4-BE49-F238E27FC236}">
                <a16:creationId xmlns:a16="http://schemas.microsoft.com/office/drawing/2014/main" id="{F26AE164-D733-49A7-BF4A-2EB67A9390B5}"/>
              </a:ext>
            </a:extLst>
          </p:cNvPr>
          <p:cNvSpPr>
            <a:spLocks xmlns:a="http://schemas.openxmlformats.org/drawingml/2006/main" noGrp="1"/>
          </p:cNvSpPr>
          <p:nvPr/>
        </p:nvSpPr>
        <p:spPr>
          <a:xfrm xmlns:a="http://schemas.openxmlformats.org/drawingml/2006/main">
            <a:off x="742950" y="4924425"/>
            <a:ext cx="1038225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D4A686A-0700-4025-8F0A-DD32BBD0FF90}"/>
              </a:ext>
            </a:extLst>
          </p:cNvPr>
          <p:cNvSpPr>
            <a:spLocks xmlns:a="http://schemas.openxmlformats.org/drawingml/2006/main" noGrp="1"/>
          </p:cNvSpPr>
          <p:nvPr/>
        </p:nvSpPr>
        <p:spPr>
          <a:xfrm xmlns:a="http://schemas.openxmlformats.org/drawingml/2006/main">
            <a:off x="762000" y="5191125"/>
            <a:ext cx="103822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9232A"/>
                </a:solidFill>
              </a:defRPr>
            </a:defPPr>
            <a:lvl1pPr>
              <a:defRPr sz="1725" b="1">
                <a:solidFill>
                  <a:srgbClr val="19232A"/>
                </a:solidFill>
              </a:defRPr>
            </a:lvl1pPr>
            <a:lvl2pPr>
              <a:defRPr sz="1725" b="1">
                <a:solidFill>
                  <a:srgbClr val="19232A"/>
                </a:solidFill>
              </a:defRPr>
            </a:lvl2pPr>
            <a:lvl3pPr>
              <a:defRPr sz="1725" b="1">
                <a:solidFill>
                  <a:srgbClr val="19232A"/>
                </a:solidFill>
              </a:defRPr>
            </a:lvl3pPr>
            <a:lvl4pPr>
              <a:defRPr sz="1725" b="1">
                <a:solidFill>
                  <a:srgbClr val="19232A"/>
                </a:solidFill>
              </a:defRPr>
            </a:lvl4pPr>
            <a:lvl5pPr>
              <a:defRPr sz="1725" b="1">
                <a:solidFill>
                  <a:srgbClr val="19232A"/>
                </a:solidFill>
              </a:defRPr>
            </a:lvl5pPr>
            <a:lvl6pPr>
              <a:defRPr sz="1725" b="1">
                <a:solidFill>
                  <a:srgbClr val="19232A"/>
                </a:solidFill>
              </a:defRPr>
            </a:lvl6pPr>
            <a:lvl7pPr>
              <a:defRPr sz="1725" b="1">
                <a:solidFill>
                  <a:srgbClr val="19232A"/>
                </a:solidFill>
              </a:defRPr>
            </a:lvl7pPr>
            <a:lvl8pPr>
              <a:defRPr sz="1725" b="1">
                <a:solidFill>
                  <a:srgbClr val="19232A"/>
                </a:solidFill>
              </a:defRPr>
            </a:lvl8pPr>
            <a:lvl9pPr>
              <a:defRPr sz="1725" b="1">
                <a:solidFill>
                  <a:srgbClr val="19232A"/>
                </a:solidFill>
              </a:defRPr>
            </a:lvl9pPr>
          </a:lstStyle>
          <a:p xmlns:a="http://schemas.openxmlformats.org/drawingml/2006/main">
            <a:pPr>
              <a:defRPr sz="1725" b="1">
                <a:solidFill>
                  <a:srgbClr val="19232A"/>
                </a:solidFill>
              </a:defRPr>
            </a:pPr>
            <a:r>
              <a:rPr sz="1725" b="1">
                <a:solidFill>
                  <a:srgbClr val="19232A"/>
                </a:solidFill>
              </a:rPr>
              <a:t>Multiple clients are not a novelty claim. Runtime state policy is our question.</a:t>
            </a:r>
          </a:p>
        </p:txBody>
      </p:sp>
    </p:spTree>
    <p:extLst>
      <p:ext uri="{BB962C8B-B14F-4D97-AF65-F5344CB8AC3E}">
        <p14:creationId xmlns:p14="http://schemas.microsoft.com/office/powerpoint/2010/main" val="1700153536"/>
      </p:ext>
    </p:extLst>
  </p:cSld>
</p:sld>
</file>

<file path=ppt/slides/slide5.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F5D09C2-6DA4-42F5-83F5-7DF76105C6F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45AE17-B5DE-40BC-BD1E-2AA293154B43}"/>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Controlled local pilot</a:t>
            </a:r>
          </a:p>
        </p:txBody>
      </p:sp>
      <p:sp>
        <p:nvSpPr>
          <p:cNvPr id="3" name="">
            <a:extLst xmlns:a="http://schemas.openxmlformats.org/drawingml/2006/main">
              <a:ext uri="{FF2B5EF4-FFF2-40B4-BE49-F238E27FC236}">
                <a16:creationId xmlns:a16="http://schemas.microsoft.com/office/drawing/2014/main" id="{65520A5B-A6E1-4DB3-BCBB-6B44580FB8C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9E5B41-6B95-4FD4-BF59-88C9203BCA83}"/>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5/9</a:t>
            </a:r>
          </a:p>
        </p:txBody>
      </p:sp>
      <p:sp>
        <p:nvSpPr>
          <p:cNvPr id="5" name="">
            <a:extLst xmlns:a="http://schemas.openxmlformats.org/drawingml/2006/main">
              <a:ext uri="{FF2B5EF4-FFF2-40B4-BE49-F238E27FC236}">
                <a16:creationId xmlns:a16="http://schemas.microsoft.com/office/drawing/2014/main" id="{E62D5B16-24D6-4E13-B44C-04B09D5F264A}"/>
              </a:ext>
            </a:extLst>
          </p:cNvPr>
          <p:cNvSpPr>
            <a:spLocks xmlns:a="http://schemas.openxmlformats.org/drawingml/2006/main" noGrp="1"/>
          </p:cNvSpPr>
          <p:nvPr/>
        </p:nvSpPr>
        <p:spPr>
          <a:xfrm xmlns:a="http://schemas.openxmlformats.org/drawingml/2006/main">
            <a:off x="723900" y="1943100"/>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C18F41-ABB1-4EEB-BF50-118A96117D39}"/>
              </a:ext>
            </a:extLst>
          </p:cNvPr>
          <p:cNvSpPr>
            <a:spLocks xmlns:a="http://schemas.openxmlformats.org/drawingml/2006/main" noGrp="1"/>
          </p:cNvSpPr>
          <p:nvPr/>
        </p:nvSpPr>
        <p:spPr>
          <a:xfrm xmlns:a="http://schemas.openxmlformats.org/drawingml/2006/main">
            <a:off x="1000125" y="18478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Mosquitto 2.1.2, Docker, 127.0.0.1 only</a:t>
            </a:r>
          </a:p>
        </p:txBody>
      </p:sp>
      <p:sp>
        <p:nvSpPr>
          <p:cNvPr id="7" name="">
            <a:extLst xmlns:a="http://schemas.openxmlformats.org/drawingml/2006/main">
              <a:ext uri="{FF2B5EF4-FFF2-40B4-BE49-F238E27FC236}">
                <a16:creationId xmlns:a16="http://schemas.microsoft.com/office/drawing/2014/main" id="{12D1D27C-B3CA-4557-969D-DD056EC1D102}"/>
              </a:ext>
            </a:extLst>
          </p:cNvPr>
          <p:cNvSpPr>
            <a:spLocks xmlns:a="http://schemas.openxmlformats.org/drawingml/2006/main" noGrp="1"/>
          </p:cNvSpPr>
          <p:nvPr/>
        </p:nvSpPr>
        <p:spPr>
          <a:xfrm xmlns:a="http://schemas.openxmlformats.org/drawingml/2006/main">
            <a:off x="723900" y="284797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15496C-7DA9-4109-8852-CCC478962215}"/>
              </a:ext>
            </a:extLst>
          </p:cNvPr>
          <p:cNvSpPr>
            <a:spLocks xmlns:a="http://schemas.openxmlformats.org/drawingml/2006/main" noGrp="1"/>
          </p:cNvSpPr>
          <p:nvPr/>
        </p:nvSpPr>
        <p:spPr>
          <a:xfrm xmlns:a="http://schemas.openxmlformats.org/drawingml/2006/main">
            <a:off x="1000125" y="275272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Python Paho MQTT 5.0 clients; three subscribers and five messages</a:t>
            </a:r>
          </a:p>
        </p:txBody>
      </p:sp>
      <p:sp>
        <p:nvSpPr>
          <p:cNvPr id="9" name="">
            <a:extLst xmlns:a="http://schemas.openxmlformats.org/drawingml/2006/main">
              <a:ext uri="{FF2B5EF4-FFF2-40B4-BE49-F238E27FC236}">
                <a16:creationId xmlns:a16="http://schemas.microsoft.com/office/drawing/2014/main" id="{DCEAA6E3-959C-442E-8C26-39C9337A562D}"/>
              </a:ext>
            </a:extLst>
          </p:cNvPr>
          <p:cNvSpPr>
            <a:spLocks xmlns:a="http://schemas.openxmlformats.org/drawingml/2006/main" noGrp="1"/>
          </p:cNvSpPr>
          <p:nvPr/>
        </p:nvSpPr>
        <p:spPr>
          <a:xfrm xmlns:a="http://schemas.openxmlformats.org/drawingml/2006/main">
            <a:off x="723900" y="3752850"/>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72AE8-8BDC-4474-A364-824F833B0F9D}"/>
              </a:ext>
            </a:extLst>
          </p:cNvPr>
          <p:cNvSpPr>
            <a:spLocks xmlns:a="http://schemas.openxmlformats.org/drawingml/2006/main" noGrp="1"/>
          </p:cNvSpPr>
          <p:nvPr/>
        </p:nvSpPr>
        <p:spPr>
          <a:xfrm xmlns:a="http://schemas.openxmlformats.org/drawingml/2006/main">
            <a:off x="1000125" y="36576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Clean expiry 0 vs. durable expiry 120 seconds</a:t>
            </a:r>
          </a:p>
        </p:txBody>
      </p:sp>
      <p:sp>
        <p:nvSpPr>
          <p:cNvPr id="11" name="">
            <a:extLst xmlns:a="http://schemas.openxmlformats.org/drawingml/2006/main">
              <a:ext uri="{FF2B5EF4-FFF2-40B4-BE49-F238E27FC236}">
                <a16:creationId xmlns:a16="http://schemas.microsoft.com/office/drawing/2014/main" id="{E22A23CB-F7B4-4DF0-B4FD-B4DB0BE83CA6}"/>
              </a:ext>
            </a:extLst>
          </p:cNvPr>
          <p:cNvSpPr>
            <a:spLocks xmlns:a="http://schemas.openxmlformats.org/drawingml/2006/main" noGrp="1"/>
          </p:cNvSpPr>
          <p:nvPr/>
        </p:nvSpPr>
        <p:spPr>
          <a:xfrm xmlns:a="http://schemas.openxmlformats.org/drawingml/2006/main">
            <a:off x="723900" y="465772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989883-8F04-4D91-B7FB-C4BC50C1C541}"/>
              </a:ext>
            </a:extLst>
          </p:cNvPr>
          <p:cNvSpPr>
            <a:spLocks xmlns:a="http://schemas.openxmlformats.org/drawingml/2006/main" noGrp="1"/>
          </p:cNvSpPr>
          <p:nvPr/>
        </p:nvSpPr>
        <p:spPr>
          <a:xfrm xmlns:a="http://schemas.openxmlformats.org/drawingml/2006/main">
            <a:off x="1000125" y="45624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Existing queue cap: 1000 vs. 3 messages per client</a:t>
            </a:r>
          </a:p>
        </p:txBody>
      </p:sp>
      <p:sp>
        <p:nvSpPr>
          <p:cNvPr id="13" name="">
            <a:extLst xmlns:a="http://schemas.openxmlformats.org/drawingml/2006/main">
              <a:ext uri="{FF2B5EF4-FFF2-40B4-BE49-F238E27FC236}">
                <a16:creationId xmlns:a16="http://schemas.microsoft.com/office/drawing/2014/main" id="{5AC96541-2941-403E-98D7-536697CFA06D}"/>
              </a:ext>
            </a:extLst>
          </p:cNvPr>
          <p:cNvSpPr>
            <a:spLocks xmlns:a="http://schemas.openxmlformats.org/drawingml/2006/main" noGrp="1"/>
          </p:cNvSpPr>
          <p:nvPr/>
        </p:nvSpPr>
        <p:spPr>
          <a:xfrm xmlns:a="http://schemas.openxmlformats.org/drawingml/2006/main">
            <a:off x="990600" y="5581650"/>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B5961"/>
                </a:solidFill>
              </a:defRPr>
            </a:defPPr>
            <a:lvl1pPr>
              <a:defRPr sz="1575" b="0">
                <a:solidFill>
                  <a:srgbClr val="4B5961"/>
                </a:solidFill>
              </a:defRPr>
            </a:lvl1pPr>
            <a:lvl2pPr>
              <a:defRPr sz="1575" b="0">
                <a:solidFill>
                  <a:srgbClr val="4B5961"/>
                </a:solidFill>
              </a:defRPr>
            </a:lvl2pPr>
            <a:lvl3pPr>
              <a:defRPr sz="1575" b="0">
                <a:solidFill>
                  <a:srgbClr val="4B5961"/>
                </a:solidFill>
              </a:defRPr>
            </a:lvl3pPr>
            <a:lvl4pPr>
              <a:defRPr sz="1575" b="0">
                <a:solidFill>
                  <a:srgbClr val="4B5961"/>
                </a:solidFill>
              </a:defRPr>
            </a:lvl4pPr>
            <a:lvl5pPr>
              <a:defRPr sz="1575" b="0">
                <a:solidFill>
                  <a:srgbClr val="4B5961"/>
                </a:solidFill>
              </a:defRPr>
            </a:lvl5pPr>
            <a:lvl6pPr>
              <a:defRPr sz="1575" b="0">
                <a:solidFill>
                  <a:srgbClr val="4B5961"/>
                </a:solidFill>
              </a:defRPr>
            </a:lvl6pPr>
            <a:lvl7pPr>
              <a:defRPr sz="1575" b="0">
                <a:solidFill>
                  <a:srgbClr val="4B5961"/>
                </a:solidFill>
              </a:defRPr>
            </a:lvl7pPr>
            <a:lvl8pPr>
              <a:defRPr sz="1575" b="0">
                <a:solidFill>
                  <a:srgbClr val="4B5961"/>
                </a:solidFill>
              </a:defRPr>
            </a:lvl8pPr>
            <a:lvl9pPr>
              <a:defRPr sz="1575" b="0">
                <a:solidFill>
                  <a:srgbClr val="4B5961"/>
                </a:solidFill>
              </a:defRPr>
            </a:lvl9pPr>
          </a:lstStyle>
          <a:p xmlns:a="http://schemas.openxmlformats.org/drawingml/2006/main">
            <a:pPr>
              <a:defRPr sz="1575" b="0">
                <a:solidFill>
                  <a:srgbClr val="4B5961"/>
                </a:solidFill>
              </a:defRPr>
            </a:pPr>
            <a:r>
              <a:rPr sz="1575" b="0">
                <a:solidFill>
                  <a:srgbClr val="4B5961"/>
                </a:solidFill>
              </a:rPr>
              <a:t>Raw JSON and exact commands are in the project folder.</a:t>
            </a:r>
          </a:p>
        </p:txBody>
      </p:sp>
    </p:spTree>
    <p:extLst>
      <p:ext uri="{BB962C8B-B14F-4D97-AF65-F5344CB8AC3E}">
        <p14:creationId xmlns:p14="http://schemas.microsoft.com/office/powerpoint/2010/main" val="1634711714"/>
      </p:ext>
    </p:extLst>
  </p:cSld>
</p:sld>
</file>

<file path=ppt/slides/slide6.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0002FC4-E76F-470A-9685-B89A8A60692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D3E6A2-D811-4F4B-9174-22AE1BF0DF7B}"/>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What the broker actually did</a:t>
            </a:r>
          </a:p>
        </p:txBody>
      </p:sp>
      <p:sp>
        <p:nvSpPr>
          <p:cNvPr id="3" name="">
            <a:extLst xmlns:a="http://schemas.openxmlformats.org/drawingml/2006/main">
              <a:ext uri="{FF2B5EF4-FFF2-40B4-BE49-F238E27FC236}">
                <a16:creationId xmlns:a16="http://schemas.microsoft.com/office/drawing/2014/main" id="{1B7DE824-8861-4414-9B8F-62065BC35DF7}"/>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FBC055-DE62-42C4-818F-2766E1D5079E}"/>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6/9</a:t>
            </a:r>
          </a:p>
        </p:txBody>
      </p:sp>
      <p:sp>
        <p:nvSpPr>
          <p:cNvPr id="5" name="">
            <a:extLst xmlns:a="http://schemas.openxmlformats.org/drawingml/2006/main">
              <a:ext uri="{FF2B5EF4-FFF2-40B4-BE49-F238E27FC236}">
                <a16:creationId xmlns:a16="http://schemas.microsoft.com/office/drawing/2014/main" id="{151BFB02-A315-4E69-9F94-F15D7E066409}"/>
              </a:ext>
            </a:extLst>
          </p:cNvPr>
          <p:cNvSpPr>
            <a:spLocks xmlns:a="http://schemas.openxmlformats.org/drawingml/2006/main" noGrp="1"/>
          </p:cNvSpPr>
          <p:nvPr/>
        </p:nvSpPr>
        <p:spPr>
          <a:xfrm xmlns:a="http://schemas.openxmlformats.org/drawingml/2006/main">
            <a:off x="762000" y="192405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B766D"/>
                </a:solidFill>
              </a:defRPr>
            </a:defPPr>
            <a:lvl1pPr>
              <a:defRPr sz="1650" b="1">
                <a:solidFill>
                  <a:srgbClr val="0B766D"/>
                </a:solidFill>
              </a:defRPr>
            </a:lvl1pPr>
            <a:lvl2pPr>
              <a:defRPr sz="1650" b="1">
                <a:solidFill>
                  <a:srgbClr val="0B766D"/>
                </a:solidFill>
              </a:defRPr>
            </a:lvl2pPr>
            <a:lvl3pPr>
              <a:defRPr sz="1650" b="1">
                <a:solidFill>
                  <a:srgbClr val="0B766D"/>
                </a:solidFill>
              </a:defRPr>
            </a:lvl3pPr>
            <a:lvl4pPr>
              <a:defRPr sz="1650" b="1">
                <a:solidFill>
                  <a:srgbClr val="0B766D"/>
                </a:solidFill>
              </a:defRPr>
            </a:lvl4pPr>
            <a:lvl5pPr>
              <a:defRPr sz="1650" b="1">
                <a:solidFill>
                  <a:srgbClr val="0B766D"/>
                </a:solidFill>
              </a:defRPr>
            </a:lvl5pPr>
            <a:lvl6pPr>
              <a:defRPr sz="1650" b="1">
                <a:solidFill>
                  <a:srgbClr val="0B766D"/>
                </a:solidFill>
              </a:defRPr>
            </a:lvl6pPr>
            <a:lvl7pPr>
              <a:defRPr sz="1650" b="1">
                <a:solidFill>
                  <a:srgbClr val="0B766D"/>
                </a:solidFill>
              </a:defRPr>
            </a:lvl7pPr>
            <a:lvl8pPr>
              <a:defRPr sz="1650" b="1">
                <a:solidFill>
                  <a:srgbClr val="0B766D"/>
                </a:solidFill>
              </a:defRPr>
            </a:lvl8pPr>
            <a:lvl9pPr>
              <a:defRPr sz="1650" b="1">
                <a:solidFill>
                  <a:srgbClr val="0B766D"/>
                </a:solidFill>
              </a:defRPr>
            </a:lvl9pPr>
          </a:lstStyle>
          <a:p xmlns:a="http://schemas.openxmlformats.org/drawingml/2006/main">
            <a:pPr>
              <a:defRPr sz="1650" b="1">
                <a:solidFill>
                  <a:srgbClr val="0B766D"/>
                </a:solidFill>
              </a:defRPr>
            </a:pPr>
            <a:r>
              <a:rPr sz="1650" b="1">
                <a:solidFill>
                  <a:srgbClr val="0B766D"/>
                </a:solidFill>
              </a:rPr>
              <a:t>Scenario</a:t>
            </a:r>
          </a:p>
        </p:txBody>
      </p:sp>
      <p:sp>
        <p:nvSpPr>
          <p:cNvPr id="6" name="">
            <a:extLst xmlns:a="http://schemas.openxmlformats.org/drawingml/2006/main">
              <a:ext uri="{FF2B5EF4-FFF2-40B4-BE49-F238E27FC236}">
                <a16:creationId xmlns:a16="http://schemas.microsoft.com/office/drawing/2014/main" id="{0E9FD440-A1CE-468C-BD87-B1D7D1ACF9BF}"/>
              </a:ext>
            </a:extLst>
          </p:cNvPr>
          <p:cNvSpPr>
            <a:spLocks xmlns:a="http://schemas.openxmlformats.org/drawingml/2006/main" noGrp="1"/>
          </p:cNvSpPr>
          <p:nvPr/>
        </p:nvSpPr>
        <p:spPr>
          <a:xfrm xmlns:a="http://schemas.openxmlformats.org/drawingml/2006/main">
            <a:off x="4095750" y="192405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B766D"/>
                </a:solidFill>
              </a:defRPr>
            </a:defPPr>
            <a:lvl1pPr>
              <a:defRPr sz="1650" b="1">
                <a:solidFill>
                  <a:srgbClr val="0B766D"/>
                </a:solidFill>
              </a:defRPr>
            </a:lvl1pPr>
            <a:lvl2pPr>
              <a:defRPr sz="1650" b="1">
                <a:solidFill>
                  <a:srgbClr val="0B766D"/>
                </a:solidFill>
              </a:defRPr>
            </a:lvl2pPr>
            <a:lvl3pPr>
              <a:defRPr sz="1650" b="1">
                <a:solidFill>
                  <a:srgbClr val="0B766D"/>
                </a:solidFill>
              </a:defRPr>
            </a:lvl3pPr>
            <a:lvl4pPr>
              <a:defRPr sz="1650" b="1">
                <a:solidFill>
                  <a:srgbClr val="0B766D"/>
                </a:solidFill>
              </a:defRPr>
            </a:lvl4pPr>
            <a:lvl5pPr>
              <a:defRPr sz="1650" b="1">
                <a:solidFill>
                  <a:srgbClr val="0B766D"/>
                </a:solidFill>
              </a:defRPr>
            </a:lvl5pPr>
            <a:lvl6pPr>
              <a:defRPr sz="1650" b="1">
                <a:solidFill>
                  <a:srgbClr val="0B766D"/>
                </a:solidFill>
              </a:defRPr>
            </a:lvl6pPr>
            <a:lvl7pPr>
              <a:defRPr sz="1650" b="1">
                <a:solidFill>
                  <a:srgbClr val="0B766D"/>
                </a:solidFill>
              </a:defRPr>
            </a:lvl7pPr>
            <a:lvl8pPr>
              <a:defRPr sz="1650" b="1">
                <a:solidFill>
                  <a:srgbClr val="0B766D"/>
                </a:solidFill>
              </a:defRPr>
            </a:lvl8pPr>
            <a:lvl9pPr>
              <a:defRPr sz="1650" b="1">
                <a:solidFill>
                  <a:srgbClr val="0B766D"/>
                </a:solidFill>
              </a:defRPr>
            </a:lvl9pPr>
          </a:lstStyle>
          <a:p xmlns:a="http://schemas.openxmlformats.org/drawingml/2006/main">
            <a:pPr>
              <a:defRPr sz="1650" b="1">
                <a:solidFill>
                  <a:srgbClr val="0B766D"/>
                </a:solidFill>
              </a:defRPr>
            </a:pPr>
            <a:r>
              <a:rPr sz="1650" b="1">
                <a:solidFill>
                  <a:srgbClr val="0B766D"/>
                </a:solidFill>
              </a:rPr>
              <a:t>Cap</a:t>
            </a:r>
          </a:p>
        </p:txBody>
      </p:sp>
      <p:sp>
        <p:nvSpPr>
          <p:cNvPr id="7" name="">
            <a:extLst xmlns:a="http://schemas.openxmlformats.org/drawingml/2006/main">
              <a:ext uri="{FF2B5EF4-FFF2-40B4-BE49-F238E27FC236}">
                <a16:creationId xmlns:a16="http://schemas.microsoft.com/office/drawing/2014/main" id="{F4890FBD-5BFC-48E5-ADDC-F6B77CC31A58}"/>
              </a:ext>
            </a:extLst>
          </p:cNvPr>
          <p:cNvSpPr>
            <a:spLocks xmlns:a="http://schemas.openxmlformats.org/drawingml/2006/main" noGrp="1"/>
          </p:cNvSpPr>
          <p:nvPr/>
        </p:nvSpPr>
        <p:spPr>
          <a:xfrm xmlns:a="http://schemas.openxmlformats.org/drawingml/2006/main">
            <a:off x="6477000" y="192405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B766D"/>
                </a:solidFill>
              </a:defRPr>
            </a:defPPr>
            <a:lvl1pPr>
              <a:defRPr sz="1650" b="1">
                <a:solidFill>
                  <a:srgbClr val="0B766D"/>
                </a:solidFill>
              </a:defRPr>
            </a:lvl1pPr>
            <a:lvl2pPr>
              <a:defRPr sz="1650" b="1">
                <a:solidFill>
                  <a:srgbClr val="0B766D"/>
                </a:solidFill>
              </a:defRPr>
            </a:lvl2pPr>
            <a:lvl3pPr>
              <a:defRPr sz="1650" b="1">
                <a:solidFill>
                  <a:srgbClr val="0B766D"/>
                </a:solidFill>
              </a:defRPr>
            </a:lvl3pPr>
            <a:lvl4pPr>
              <a:defRPr sz="1650" b="1">
                <a:solidFill>
                  <a:srgbClr val="0B766D"/>
                </a:solidFill>
              </a:defRPr>
            </a:lvl4pPr>
            <a:lvl5pPr>
              <a:defRPr sz="1650" b="1">
                <a:solidFill>
                  <a:srgbClr val="0B766D"/>
                </a:solidFill>
              </a:defRPr>
            </a:lvl5pPr>
            <a:lvl6pPr>
              <a:defRPr sz="1650" b="1">
                <a:solidFill>
                  <a:srgbClr val="0B766D"/>
                </a:solidFill>
              </a:defRPr>
            </a:lvl6pPr>
            <a:lvl7pPr>
              <a:defRPr sz="1650" b="1">
                <a:solidFill>
                  <a:srgbClr val="0B766D"/>
                </a:solidFill>
              </a:defRPr>
            </a:lvl7pPr>
            <a:lvl8pPr>
              <a:defRPr sz="1650" b="1">
                <a:solidFill>
                  <a:srgbClr val="0B766D"/>
                </a:solidFill>
              </a:defRPr>
            </a:lvl8pPr>
            <a:lvl9pPr>
              <a:defRPr sz="1650" b="1">
                <a:solidFill>
                  <a:srgbClr val="0B766D"/>
                </a:solidFill>
              </a:defRPr>
            </a:lvl9pPr>
          </a:lstStyle>
          <a:p xmlns:a="http://schemas.openxmlformats.org/drawingml/2006/main">
            <a:pPr>
              <a:defRPr sz="1650" b="1">
                <a:solidFill>
                  <a:srgbClr val="0B766D"/>
                </a:solidFill>
              </a:defRPr>
            </a:pPr>
            <a:r>
              <a:rPr sz="1650" b="1">
                <a:solidFill>
                  <a:srgbClr val="0B766D"/>
                </a:solidFill>
              </a:rPr>
              <a:t>Recovered / client</a:t>
            </a:r>
          </a:p>
        </p:txBody>
      </p:sp>
      <p:sp>
        <p:nvSpPr>
          <p:cNvPr id="8" name="">
            <a:extLst xmlns:a="http://schemas.openxmlformats.org/drawingml/2006/main">
              <a:ext uri="{FF2B5EF4-FFF2-40B4-BE49-F238E27FC236}">
                <a16:creationId xmlns:a16="http://schemas.microsoft.com/office/drawing/2014/main" id="{375D751C-5A01-4110-858B-7A4456D81AA9}"/>
              </a:ext>
            </a:extLst>
          </p:cNvPr>
          <p:cNvSpPr>
            <a:spLocks xmlns:a="http://schemas.openxmlformats.org/drawingml/2006/main" noGrp="1"/>
          </p:cNvSpPr>
          <p:nvPr/>
        </p:nvSpPr>
        <p:spPr>
          <a:xfrm xmlns:a="http://schemas.openxmlformats.org/drawingml/2006/main">
            <a:off x="8953500" y="1924050"/>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B766D"/>
                </a:solidFill>
              </a:defRPr>
            </a:defPPr>
            <a:lvl1pPr>
              <a:defRPr sz="1650" b="1">
                <a:solidFill>
                  <a:srgbClr val="0B766D"/>
                </a:solidFill>
              </a:defRPr>
            </a:lvl1pPr>
            <a:lvl2pPr>
              <a:defRPr sz="1650" b="1">
                <a:solidFill>
                  <a:srgbClr val="0B766D"/>
                </a:solidFill>
              </a:defRPr>
            </a:lvl2pPr>
            <a:lvl3pPr>
              <a:defRPr sz="1650" b="1">
                <a:solidFill>
                  <a:srgbClr val="0B766D"/>
                </a:solidFill>
              </a:defRPr>
            </a:lvl3pPr>
            <a:lvl4pPr>
              <a:defRPr sz="1650" b="1">
                <a:solidFill>
                  <a:srgbClr val="0B766D"/>
                </a:solidFill>
              </a:defRPr>
            </a:lvl4pPr>
            <a:lvl5pPr>
              <a:defRPr sz="1650" b="1">
                <a:solidFill>
                  <a:srgbClr val="0B766D"/>
                </a:solidFill>
              </a:defRPr>
            </a:lvl5pPr>
            <a:lvl6pPr>
              <a:defRPr sz="1650" b="1">
                <a:solidFill>
                  <a:srgbClr val="0B766D"/>
                </a:solidFill>
              </a:defRPr>
            </a:lvl6pPr>
            <a:lvl7pPr>
              <a:defRPr sz="1650" b="1">
                <a:solidFill>
                  <a:srgbClr val="0B766D"/>
                </a:solidFill>
              </a:defRPr>
            </a:lvl7pPr>
            <a:lvl8pPr>
              <a:defRPr sz="1650" b="1">
                <a:solidFill>
                  <a:srgbClr val="0B766D"/>
                </a:solidFill>
              </a:defRPr>
            </a:lvl8pPr>
            <a:lvl9pPr>
              <a:defRPr sz="1650" b="1">
                <a:solidFill>
                  <a:srgbClr val="0B766D"/>
                </a:solidFill>
              </a:defRPr>
            </a:lvl9pPr>
          </a:lstStyle>
          <a:p xmlns:a="http://schemas.openxmlformats.org/drawingml/2006/main">
            <a:pPr>
              <a:defRPr sz="1650" b="1">
                <a:solidFill>
                  <a:srgbClr val="0B766D"/>
                </a:solidFill>
              </a:defRPr>
            </a:pPr>
            <a:r>
              <a:rPr sz="1650" b="1">
                <a:solidFill>
                  <a:srgbClr val="0B766D"/>
                </a:solidFill>
              </a:rPr>
              <a:t>Store count</a:t>
            </a:r>
          </a:p>
        </p:txBody>
      </p:sp>
      <p:sp>
        <p:nvSpPr>
          <p:cNvPr id="9" name="">
            <a:extLst xmlns:a="http://schemas.openxmlformats.org/drawingml/2006/main">
              <a:ext uri="{FF2B5EF4-FFF2-40B4-BE49-F238E27FC236}">
                <a16:creationId xmlns:a16="http://schemas.microsoft.com/office/drawing/2014/main" id="{DEE153B7-A476-4CE0-A240-940611649CBD}"/>
              </a:ext>
            </a:extLst>
          </p:cNvPr>
          <p:cNvSpPr>
            <a:spLocks xmlns:a="http://schemas.openxmlformats.org/drawingml/2006/main" noGrp="1"/>
          </p:cNvSpPr>
          <p:nvPr/>
        </p:nvSpPr>
        <p:spPr>
          <a:xfrm xmlns:a="http://schemas.openxmlformats.org/drawingml/2006/main">
            <a:off x="723900" y="2543175"/>
            <a:ext cx="106108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F63B12-8C0C-413F-84AB-A6AF3F5C1687}"/>
              </a:ext>
            </a:extLst>
          </p:cNvPr>
          <p:cNvSpPr>
            <a:spLocks xmlns:a="http://schemas.openxmlformats.org/drawingml/2006/main" noGrp="1"/>
          </p:cNvSpPr>
          <p:nvPr/>
        </p:nvSpPr>
        <p:spPr>
          <a:xfrm xmlns:a="http://schemas.openxmlformats.org/drawingml/2006/main">
            <a:off x="762000" y="2628900"/>
            <a:ext cx="323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Online, both runs</a:t>
            </a:r>
          </a:p>
        </p:txBody>
      </p:sp>
      <p:sp>
        <p:nvSpPr>
          <p:cNvPr id="11" name="">
            <a:extLst xmlns:a="http://schemas.openxmlformats.org/drawingml/2006/main">
              <a:ext uri="{FF2B5EF4-FFF2-40B4-BE49-F238E27FC236}">
                <a16:creationId xmlns:a16="http://schemas.microsoft.com/office/drawing/2014/main" id="{F8494607-673D-4ADA-8303-DB665C257420}"/>
              </a:ext>
            </a:extLst>
          </p:cNvPr>
          <p:cNvSpPr>
            <a:spLocks xmlns:a="http://schemas.openxmlformats.org/drawingml/2006/main" noGrp="1"/>
          </p:cNvSpPr>
          <p:nvPr/>
        </p:nvSpPr>
        <p:spPr>
          <a:xfrm xmlns:a="http://schemas.openxmlformats.org/drawingml/2006/main">
            <a:off x="4095750" y="26289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1000 / 3</a:t>
            </a:r>
          </a:p>
        </p:txBody>
      </p:sp>
      <p:sp>
        <p:nvSpPr>
          <p:cNvPr id="12" name="">
            <a:extLst xmlns:a="http://schemas.openxmlformats.org/drawingml/2006/main">
              <a:ext uri="{FF2B5EF4-FFF2-40B4-BE49-F238E27FC236}">
                <a16:creationId xmlns:a16="http://schemas.microsoft.com/office/drawing/2014/main" id="{F2DE3620-B779-4F43-86CF-FF48715629A4}"/>
              </a:ext>
            </a:extLst>
          </p:cNvPr>
          <p:cNvSpPr>
            <a:spLocks xmlns:a="http://schemas.openxmlformats.org/drawingml/2006/main" noGrp="1"/>
          </p:cNvSpPr>
          <p:nvPr/>
        </p:nvSpPr>
        <p:spPr>
          <a:xfrm xmlns:a="http://schemas.openxmlformats.org/drawingml/2006/main">
            <a:off x="6477000" y="262890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1 / 1</a:t>
            </a:r>
          </a:p>
        </p:txBody>
      </p:sp>
      <p:sp>
        <p:nvSpPr>
          <p:cNvPr id="13" name="">
            <a:extLst xmlns:a="http://schemas.openxmlformats.org/drawingml/2006/main">
              <a:ext uri="{FF2B5EF4-FFF2-40B4-BE49-F238E27FC236}">
                <a16:creationId xmlns:a16="http://schemas.microsoft.com/office/drawing/2014/main" id="{67FB0BA2-9C70-4840-A8B4-FFD456D9E224}"/>
              </a:ext>
            </a:extLst>
          </p:cNvPr>
          <p:cNvSpPr>
            <a:spLocks xmlns:a="http://schemas.openxmlformats.org/drawingml/2006/main" noGrp="1"/>
          </p:cNvSpPr>
          <p:nvPr/>
        </p:nvSpPr>
        <p:spPr>
          <a:xfrm xmlns:a="http://schemas.openxmlformats.org/drawingml/2006/main">
            <a:off x="8953500" y="26289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a:t>
            </a:r>
          </a:p>
        </p:txBody>
      </p:sp>
      <p:sp>
        <p:nvSpPr>
          <p:cNvPr id="14" name="">
            <a:extLst xmlns:a="http://schemas.openxmlformats.org/drawingml/2006/main">
              <a:ext uri="{FF2B5EF4-FFF2-40B4-BE49-F238E27FC236}">
                <a16:creationId xmlns:a16="http://schemas.microsoft.com/office/drawing/2014/main" id="{B05F24C2-9B6E-4038-A1B1-0515971BA2AF}"/>
              </a:ext>
            </a:extLst>
          </p:cNvPr>
          <p:cNvSpPr>
            <a:spLocks xmlns:a="http://schemas.openxmlformats.org/drawingml/2006/main" noGrp="1"/>
          </p:cNvSpPr>
          <p:nvPr/>
        </p:nvSpPr>
        <p:spPr>
          <a:xfrm xmlns:a="http://schemas.openxmlformats.org/drawingml/2006/main">
            <a:off x="723900" y="3267075"/>
            <a:ext cx="106108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0FA169-C9B8-4B45-8A74-223F12AF592C}"/>
              </a:ext>
            </a:extLst>
          </p:cNvPr>
          <p:cNvSpPr>
            <a:spLocks xmlns:a="http://schemas.openxmlformats.org/drawingml/2006/main" noGrp="1"/>
          </p:cNvSpPr>
          <p:nvPr/>
        </p:nvSpPr>
        <p:spPr>
          <a:xfrm xmlns:a="http://schemas.openxmlformats.org/drawingml/2006/main">
            <a:off x="762000" y="3352800"/>
            <a:ext cx="323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Clean, expiry 0</a:t>
            </a:r>
          </a:p>
        </p:txBody>
      </p:sp>
      <p:sp>
        <p:nvSpPr>
          <p:cNvPr id="16" name="">
            <a:extLst xmlns:a="http://schemas.openxmlformats.org/drawingml/2006/main">
              <a:ext uri="{FF2B5EF4-FFF2-40B4-BE49-F238E27FC236}">
                <a16:creationId xmlns:a16="http://schemas.microsoft.com/office/drawing/2014/main" id="{13E38768-991E-49A1-B6D4-ADA13B83C8F3}"/>
              </a:ext>
            </a:extLst>
          </p:cNvPr>
          <p:cNvSpPr>
            <a:spLocks xmlns:a="http://schemas.openxmlformats.org/drawingml/2006/main" noGrp="1"/>
          </p:cNvSpPr>
          <p:nvPr/>
        </p:nvSpPr>
        <p:spPr>
          <a:xfrm xmlns:a="http://schemas.openxmlformats.org/drawingml/2006/main">
            <a:off x="4095750" y="3352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1000 / 3</a:t>
            </a:r>
          </a:p>
        </p:txBody>
      </p:sp>
      <p:sp>
        <p:nvSpPr>
          <p:cNvPr id="17" name="">
            <a:extLst xmlns:a="http://schemas.openxmlformats.org/drawingml/2006/main">
              <a:ext uri="{FF2B5EF4-FFF2-40B4-BE49-F238E27FC236}">
                <a16:creationId xmlns:a16="http://schemas.microsoft.com/office/drawing/2014/main" id="{3FA5AA91-4638-4D5E-9BB0-4C305477DEEA}"/>
              </a:ext>
            </a:extLst>
          </p:cNvPr>
          <p:cNvSpPr>
            <a:spLocks xmlns:a="http://schemas.openxmlformats.org/drawingml/2006/main" noGrp="1"/>
          </p:cNvSpPr>
          <p:nvPr/>
        </p:nvSpPr>
        <p:spPr>
          <a:xfrm xmlns:a="http://schemas.openxmlformats.org/drawingml/2006/main">
            <a:off x="6477000" y="335280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0 / 5</a:t>
            </a:r>
          </a:p>
        </p:txBody>
      </p:sp>
      <p:sp>
        <p:nvSpPr>
          <p:cNvPr id="18" name="">
            <a:extLst xmlns:a="http://schemas.openxmlformats.org/drawingml/2006/main">
              <a:ext uri="{FF2B5EF4-FFF2-40B4-BE49-F238E27FC236}">
                <a16:creationId xmlns:a16="http://schemas.microsoft.com/office/drawing/2014/main" id="{80ADF2B3-E1A0-4DA8-ADCC-74DF283E2D6C}"/>
              </a:ext>
            </a:extLst>
          </p:cNvPr>
          <p:cNvSpPr>
            <a:spLocks xmlns:a="http://schemas.openxmlformats.org/drawingml/2006/main" noGrp="1"/>
          </p:cNvSpPr>
          <p:nvPr/>
        </p:nvSpPr>
        <p:spPr>
          <a:xfrm xmlns:a="http://schemas.openxmlformats.org/drawingml/2006/main">
            <a:off x="8953500" y="33528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55 to 55</a:t>
            </a:r>
          </a:p>
        </p:txBody>
      </p:sp>
      <p:sp>
        <p:nvSpPr>
          <p:cNvPr id="19" name="">
            <a:extLst xmlns:a="http://schemas.openxmlformats.org/drawingml/2006/main">
              <a:ext uri="{FF2B5EF4-FFF2-40B4-BE49-F238E27FC236}">
                <a16:creationId xmlns:a16="http://schemas.microsoft.com/office/drawing/2014/main" id="{1AB9408C-30F4-436D-9306-9532F5C0AA80}"/>
              </a:ext>
            </a:extLst>
          </p:cNvPr>
          <p:cNvSpPr>
            <a:spLocks xmlns:a="http://schemas.openxmlformats.org/drawingml/2006/main" noGrp="1"/>
          </p:cNvSpPr>
          <p:nvPr/>
        </p:nvSpPr>
        <p:spPr>
          <a:xfrm xmlns:a="http://schemas.openxmlformats.org/drawingml/2006/main">
            <a:off x="723900" y="3990975"/>
            <a:ext cx="106108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8B43D86-6D61-4A5D-B1BB-AF60CB4C0E41}"/>
              </a:ext>
            </a:extLst>
          </p:cNvPr>
          <p:cNvSpPr>
            <a:spLocks xmlns:a="http://schemas.openxmlformats.org/drawingml/2006/main" noGrp="1"/>
          </p:cNvSpPr>
          <p:nvPr/>
        </p:nvSpPr>
        <p:spPr>
          <a:xfrm xmlns:a="http://schemas.openxmlformats.org/drawingml/2006/main">
            <a:off x="762000" y="4076700"/>
            <a:ext cx="323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Durable, expiry 120 s</a:t>
            </a:r>
          </a:p>
        </p:txBody>
      </p:sp>
      <p:sp>
        <p:nvSpPr>
          <p:cNvPr id="21" name="">
            <a:extLst xmlns:a="http://schemas.openxmlformats.org/drawingml/2006/main">
              <a:ext uri="{FF2B5EF4-FFF2-40B4-BE49-F238E27FC236}">
                <a16:creationId xmlns:a16="http://schemas.microsoft.com/office/drawing/2014/main" id="{63AA3FFC-76B7-4F27-9FDA-50955CEFC561}"/>
              </a:ext>
            </a:extLst>
          </p:cNvPr>
          <p:cNvSpPr>
            <a:spLocks xmlns:a="http://schemas.openxmlformats.org/drawingml/2006/main" noGrp="1"/>
          </p:cNvSpPr>
          <p:nvPr/>
        </p:nvSpPr>
        <p:spPr>
          <a:xfrm xmlns:a="http://schemas.openxmlformats.org/drawingml/2006/main">
            <a:off x="4095750" y="40767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1000</a:t>
            </a:r>
          </a:p>
        </p:txBody>
      </p:sp>
      <p:sp>
        <p:nvSpPr>
          <p:cNvPr id="22" name="">
            <a:extLst xmlns:a="http://schemas.openxmlformats.org/drawingml/2006/main">
              <a:ext uri="{FF2B5EF4-FFF2-40B4-BE49-F238E27FC236}">
                <a16:creationId xmlns:a16="http://schemas.microsoft.com/office/drawing/2014/main" id="{9A50DD2B-FA75-41DC-8DDC-94242A45A287}"/>
              </a:ext>
            </a:extLst>
          </p:cNvPr>
          <p:cNvSpPr>
            <a:spLocks xmlns:a="http://schemas.openxmlformats.org/drawingml/2006/main" noGrp="1"/>
          </p:cNvSpPr>
          <p:nvPr/>
        </p:nvSpPr>
        <p:spPr>
          <a:xfrm xmlns:a="http://schemas.openxmlformats.org/drawingml/2006/main">
            <a:off x="6477000" y="407670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9232A"/>
                </a:solidFill>
              </a:defRPr>
            </a:defPPr>
            <a:lvl1pPr>
              <a:defRPr sz="1575" b="1">
                <a:solidFill>
                  <a:srgbClr val="19232A"/>
                </a:solidFill>
              </a:defRPr>
            </a:lvl1pPr>
            <a:lvl2pPr>
              <a:defRPr sz="1575" b="1">
                <a:solidFill>
                  <a:srgbClr val="19232A"/>
                </a:solidFill>
              </a:defRPr>
            </a:lvl2pPr>
            <a:lvl3pPr>
              <a:defRPr sz="1575" b="1">
                <a:solidFill>
                  <a:srgbClr val="19232A"/>
                </a:solidFill>
              </a:defRPr>
            </a:lvl3pPr>
            <a:lvl4pPr>
              <a:defRPr sz="1575" b="1">
                <a:solidFill>
                  <a:srgbClr val="19232A"/>
                </a:solidFill>
              </a:defRPr>
            </a:lvl4pPr>
            <a:lvl5pPr>
              <a:defRPr sz="1575" b="1">
                <a:solidFill>
                  <a:srgbClr val="19232A"/>
                </a:solidFill>
              </a:defRPr>
            </a:lvl5pPr>
            <a:lvl6pPr>
              <a:defRPr sz="1575" b="1">
                <a:solidFill>
                  <a:srgbClr val="19232A"/>
                </a:solidFill>
              </a:defRPr>
            </a:lvl6pPr>
            <a:lvl7pPr>
              <a:defRPr sz="1575" b="1">
                <a:solidFill>
                  <a:srgbClr val="19232A"/>
                </a:solidFill>
              </a:defRPr>
            </a:lvl7pPr>
            <a:lvl8pPr>
              <a:defRPr sz="1575" b="1">
                <a:solidFill>
                  <a:srgbClr val="19232A"/>
                </a:solidFill>
              </a:defRPr>
            </a:lvl8pPr>
            <a:lvl9pPr>
              <a:defRPr sz="1575" b="1">
                <a:solidFill>
                  <a:srgbClr val="19232A"/>
                </a:solidFill>
              </a:defRPr>
            </a:lvl9pPr>
          </a:lstStyle>
          <a:p xmlns:a="http://schemas.openxmlformats.org/drawingml/2006/main">
            <a:pPr>
              <a:defRPr sz="1575" b="1">
                <a:solidFill>
                  <a:srgbClr val="19232A"/>
                </a:solidFill>
              </a:defRPr>
            </a:pPr>
            <a:r>
              <a:rPr sz="1575" b="1">
                <a:solidFill>
                  <a:srgbClr val="19232A"/>
                </a:solidFill>
              </a:rPr>
              <a:t>5 / 5</a:t>
            </a:r>
          </a:p>
        </p:txBody>
      </p:sp>
      <p:sp>
        <p:nvSpPr>
          <p:cNvPr id="23" name="">
            <a:extLst xmlns:a="http://schemas.openxmlformats.org/drawingml/2006/main">
              <a:ext uri="{FF2B5EF4-FFF2-40B4-BE49-F238E27FC236}">
                <a16:creationId xmlns:a16="http://schemas.microsoft.com/office/drawing/2014/main" id="{013073D1-41B9-4570-820B-956542E61FF3}"/>
              </a:ext>
            </a:extLst>
          </p:cNvPr>
          <p:cNvSpPr>
            <a:spLocks xmlns:a="http://schemas.openxmlformats.org/drawingml/2006/main" noGrp="1"/>
          </p:cNvSpPr>
          <p:nvPr/>
        </p:nvSpPr>
        <p:spPr>
          <a:xfrm xmlns:a="http://schemas.openxmlformats.org/drawingml/2006/main">
            <a:off x="8953500" y="40767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56 to 61</a:t>
            </a:r>
          </a:p>
        </p:txBody>
      </p:sp>
      <p:sp>
        <p:nvSpPr>
          <p:cNvPr id="24" name="">
            <a:extLst xmlns:a="http://schemas.openxmlformats.org/drawingml/2006/main">
              <a:ext uri="{FF2B5EF4-FFF2-40B4-BE49-F238E27FC236}">
                <a16:creationId xmlns:a16="http://schemas.microsoft.com/office/drawing/2014/main" id="{E54ED96B-FADE-4ADA-8571-8164AA4A7169}"/>
              </a:ext>
            </a:extLst>
          </p:cNvPr>
          <p:cNvSpPr>
            <a:spLocks xmlns:a="http://schemas.openxmlformats.org/drawingml/2006/main" noGrp="1"/>
          </p:cNvSpPr>
          <p:nvPr/>
        </p:nvSpPr>
        <p:spPr>
          <a:xfrm xmlns:a="http://schemas.openxmlformats.org/drawingml/2006/main">
            <a:off x="723900" y="4714875"/>
            <a:ext cx="106108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04B76EC-B513-4877-B9A6-086AE0DF5AA7}"/>
              </a:ext>
            </a:extLst>
          </p:cNvPr>
          <p:cNvSpPr>
            <a:spLocks xmlns:a="http://schemas.openxmlformats.org/drawingml/2006/main" noGrp="1"/>
          </p:cNvSpPr>
          <p:nvPr/>
        </p:nvSpPr>
        <p:spPr>
          <a:xfrm xmlns:a="http://schemas.openxmlformats.org/drawingml/2006/main">
            <a:off x="762000" y="4800600"/>
            <a:ext cx="323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Durable, expiry 120 s</a:t>
            </a:r>
          </a:p>
        </p:txBody>
      </p:sp>
      <p:sp>
        <p:nvSpPr>
          <p:cNvPr id="26" name="">
            <a:extLst xmlns:a="http://schemas.openxmlformats.org/drawingml/2006/main">
              <a:ext uri="{FF2B5EF4-FFF2-40B4-BE49-F238E27FC236}">
                <a16:creationId xmlns:a16="http://schemas.microsoft.com/office/drawing/2014/main" id="{A825FF65-FE4F-402F-B7AE-8A83743963FE}"/>
              </a:ext>
            </a:extLst>
          </p:cNvPr>
          <p:cNvSpPr>
            <a:spLocks xmlns:a="http://schemas.openxmlformats.org/drawingml/2006/main" noGrp="1"/>
          </p:cNvSpPr>
          <p:nvPr/>
        </p:nvSpPr>
        <p:spPr>
          <a:xfrm xmlns:a="http://schemas.openxmlformats.org/drawingml/2006/main">
            <a:off x="4095750" y="48006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3</a:t>
            </a:r>
          </a:p>
        </p:txBody>
      </p:sp>
      <p:sp>
        <p:nvSpPr>
          <p:cNvPr id="27" name="">
            <a:extLst xmlns:a="http://schemas.openxmlformats.org/drawingml/2006/main">
              <a:ext uri="{FF2B5EF4-FFF2-40B4-BE49-F238E27FC236}">
                <a16:creationId xmlns:a16="http://schemas.microsoft.com/office/drawing/2014/main" id="{E1671756-0C1E-4590-9D41-D699073AB3F8}"/>
              </a:ext>
            </a:extLst>
          </p:cNvPr>
          <p:cNvSpPr>
            <a:spLocks xmlns:a="http://schemas.openxmlformats.org/drawingml/2006/main" noGrp="1"/>
          </p:cNvSpPr>
          <p:nvPr/>
        </p:nvSpPr>
        <p:spPr>
          <a:xfrm xmlns:a="http://schemas.openxmlformats.org/drawingml/2006/main">
            <a:off x="6477000" y="480060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9232A"/>
                </a:solidFill>
              </a:defRPr>
            </a:defPPr>
            <a:lvl1pPr>
              <a:defRPr sz="1575" b="1">
                <a:solidFill>
                  <a:srgbClr val="19232A"/>
                </a:solidFill>
              </a:defRPr>
            </a:lvl1pPr>
            <a:lvl2pPr>
              <a:defRPr sz="1575" b="1">
                <a:solidFill>
                  <a:srgbClr val="19232A"/>
                </a:solidFill>
              </a:defRPr>
            </a:lvl2pPr>
            <a:lvl3pPr>
              <a:defRPr sz="1575" b="1">
                <a:solidFill>
                  <a:srgbClr val="19232A"/>
                </a:solidFill>
              </a:defRPr>
            </a:lvl3pPr>
            <a:lvl4pPr>
              <a:defRPr sz="1575" b="1">
                <a:solidFill>
                  <a:srgbClr val="19232A"/>
                </a:solidFill>
              </a:defRPr>
            </a:lvl4pPr>
            <a:lvl5pPr>
              <a:defRPr sz="1575" b="1">
                <a:solidFill>
                  <a:srgbClr val="19232A"/>
                </a:solidFill>
              </a:defRPr>
            </a:lvl5pPr>
            <a:lvl6pPr>
              <a:defRPr sz="1575" b="1">
                <a:solidFill>
                  <a:srgbClr val="19232A"/>
                </a:solidFill>
              </a:defRPr>
            </a:lvl6pPr>
            <a:lvl7pPr>
              <a:defRPr sz="1575" b="1">
                <a:solidFill>
                  <a:srgbClr val="19232A"/>
                </a:solidFill>
              </a:defRPr>
            </a:lvl7pPr>
            <a:lvl8pPr>
              <a:defRPr sz="1575" b="1">
                <a:solidFill>
                  <a:srgbClr val="19232A"/>
                </a:solidFill>
              </a:defRPr>
            </a:lvl8pPr>
            <a:lvl9pPr>
              <a:defRPr sz="1575" b="1">
                <a:solidFill>
                  <a:srgbClr val="19232A"/>
                </a:solidFill>
              </a:defRPr>
            </a:lvl9pPr>
          </a:lstStyle>
          <a:p xmlns:a="http://schemas.openxmlformats.org/drawingml/2006/main">
            <a:pPr>
              <a:defRPr sz="1575" b="1">
                <a:solidFill>
                  <a:srgbClr val="19232A"/>
                </a:solidFill>
              </a:defRPr>
            </a:pPr>
            <a:r>
              <a:rPr sz="1575" b="1">
                <a:solidFill>
                  <a:srgbClr val="19232A"/>
                </a:solidFill>
              </a:rPr>
              <a:t>3 / 5</a:t>
            </a:r>
          </a:p>
        </p:txBody>
      </p:sp>
      <p:sp>
        <p:nvSpPr>
          <p:cNvPr id="28" name="">
            <a:extLst xmlns:a="http://schemas.openxmlformats.org/drawingml/2006/main">
              <a:ext uri="{FF2B5EF4-FFF2-40B4-BE49-F238E27FC236}">
                <a16:creationId xmlns:a16="http://schemas.microsoft.com/office/drawing/2014/main" id="{67FF8E79-1F33-4669-BD64-94C8EE2D4D31}"/>
              </a:ext>
            </a:extLst>
          </p:cNvPr>
          <p:cNvSpPr>
            <a:spLocks xmlns:a="http://schemas.openxmlformats.org/drawingml/2006/main" noGrp="1"/>
          </p:cNvSpPr>
          <p:nvPr/>
        </p:nvSpPr>
        <p:spPr>
          <a:xfrm xmlns:a="http://schemas.openxmlformats.org/drawingml/2006/main">
            <a:off x="8953500" y="48006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9232A"/>
                </a:solidFill>
              </a:defRPr>
            </a:defPPr>
            <a:lvl1pPr>
              <a:defRPr sz="1575" b="0">
                <a:solidFill>
                  <a:srgbClr val="19232A"/>
                </a:solidFill>
              </a:defRPr>
            </a:lvl1pPr>
            <a:lvl2pPr>
              <a:defRPr sz="1575" b="0">
                <a:solidFill>
                  <a:srgbClr val="19232A"/>
                </a:solidFill>
              </a:defRPr>
            </a:lvl2pPr>
            <a:lvl3pPr>
              <a:defRPr sz="1575" b="0">
                <a:solidFill>
                  <a:srgbClr val="19232A"/>
                </a:solidFill>
              </a:defRPr>
            </a:lvl3pPr>
            <a:lvl4pPr>
              <a:defRPr sz="1575" b="0">
                <a:solidFill>
                  <a:srgbClr val="19232A"/>
                </a:solidFill>
              </a:defRPr>
            </a:lvl4pPr>
            <a:lvl5pPr>
              <a:defRPr sz="1575" b="0">
                <a:solidFill>
                  <a:srgbClr val="19232A"/>
                </a:solidFill>
              </a:defRPr>
            </a:lvl5pPr>
            <a:lvl6pPr>
              <a:defRPr sz="1575" b="0">
                <a:solidFill>
                  <a:srgbClr val="19232A"/>
                </a:solidFill>
              </a:defRPr>
            </a:lvl6pPr>
            <a:lvl7pPr>
              <a:defRPr sz="1575" b="0">
                <a:solidFill>
                  <a:srgbClr val="19232A"/>
                </a:solidFill>
              </a:defRPr>
            </a:lvl7pPr>
            <a:lvl8pPr>
              <a:defRPr sz="1575" b="0">
                <a:solidFill>
                  <a:srgbClr val="19232A"/>
                </a:solidFill>
              </a:defRPr>
            </a:lvl8pPr>
            <a:lvl9pPr>
              <a:defRPr sz="1575" b="0">
                <a:solidFill>
                  <a:srgbClr val="19232A"/>
                </a:solidFill>
              </a:defRPr>
            </a:lvl9pPr>
          </a:lstStyle>
          <a:p xmlns:a="http://schemas.openxmlformats.org/drawingml/2006/main">
            <a:pPr>
              <a:defRPr sz="1575" b="0">
                <a:solidFill>
                  <a:srgbClr val="19232A"/>
                </a:solidFill>
              </a:defRPr>
            </a:pPr>
            <a:r>
              <a:rPr sz="1575" b="0">
                <a:solidFill>
                  <a:srgbClr val="19232A"/>
                </a:solidFill>
              </a:rPr>
              <a:t>56 to 59</a:t>
            </a:r>
          </a:p>
        </p:txBody>
      </p:sp>
      <p:sp>
        <p:nvSpPr>
          <p:cNvPr id="29" name="">
            <a:extLst xmlns:a="http://schemas.openxmlformats.org/drawingml/2006/main">
              <a:ext uri="{FF2B5EF4-FFF2-40B4-BE49-F238E27FC236}">
                <a16:creationId xmlns:a16="http://schemas.microsoft.com/office/drawing/2014/main" id="{09511146-F32E-485E-9CBE-2F9550ACB271}"/>
              </a:ext>
            </a:extLst>
          </p:cNvPr>
          <p:cNvSpPr>
            <a:spLocks xmlns:a="http://schemas.openxmlformats.org/drawingml/2006/main" noGrp="1"/>
          </p:cNvSpPr>
          <p:nvPr/>
        </p:nvSpPr>
        <p:spPr>
          <a:xfrm xmlns:a="http://schemas.openxmlformats.org/drawingml/2006/main">
            <a:off x="762000" y="58007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B5961"/>
                </a:solidFill>
              </a:defRPr>
            </a:defPPr>
            <a:lvl1pPr>
              <a:defRPr sz="1575" b="0">
                <a:solidFill>
                  <a:srgbClr val="4B5961"/>
                </a:solidFill>
              </a:defRPr>
            </a:lvl1pPr>
            <a:lvl2pPr>
              <a:defRPr sz="1575" b="0">
                <a:solidFill>
                  <a:srgbClr val="4B5961"/>
                </a:solidFill>
              </a:defRPr>
            </a:lvl2pPr>
            <a:lvl3pPr>
              <a:defRPr sz="1575" b="0">
                <a:solidFill>
                  <a:srgbClr val="4B5961"/>
                </a:solidFill>
              </a:defRPr>
            </a:lvl3pPr>
            <a:lvl4pPr>
              <a:defRPr sz="1575" b="0">
                <a:solidFill>
                  <a:srgbClr val="4B5961"/>
                </a:solidFill>
              </a:defRPr>
            </a:lvl4pPr>
            <a:lvl5pPr>
              <a:defRPr sz="1575" b="0">
                <a:solidFill>
                  <a:srgbClr val="4B5961"/>
                </a:solidFill>
              </a:defRPr>
            </a:lvl5pPr>
            <a:lvl6pPr>
              <a:defRPr sz="1575" b="0">
                <a:solidFill>
                  <a:srgbClr val="4B5961"/>
                </a:solidFill>
              </a:defRPr>
            </a:lvl6pPr>
            <a:lvl7pPr>
              <a:defRPr sz="1575" b="0">
                <a:solidFill>
                  <a:srgbClr val="4B5961"/>
                </a:solidFill>
              </a:defRPr>
            </a:lvl7pPr>
            <a:lvl8pPr>
              <a:defRPr sz="1575" b="0">
                <a:solidFill>
                  <a:srgbClr val="4B5961"/>
                </a:solidFill>
              </a:defRPr>
            </a:lvl8pPr>
            <a:lvl9pPr>
              <a:defRPr sz="1575" b="0">
                <a:solidFill>
                  <a:srgbClr val="4B5961"/>
                </a:solidFill>
              </a:defRPr>
            </a:lvl9pPr>
          </a:lstStyle>
          <a:p xmlns:a="http://schemas.openxmlformats.org/drawingml/2006/main">
            <a:pPr>
              <a:defRPr sz="1575" b="0">
                <a:solidFill>
                  <a:srgbClr val="4B5961"/>
                </a:solidFill>
              </a:defRPr>
            </a:pPr>
            <a:r>
              <a:rPr sz="1575" b="0">
                <a:solidFill>
                  <a:srgbClr val="4B5961"/>
                </a:solidFill>
              </a:rPr>
              <a:t>Existing queue limits bound recovery and can discard offline messages.</a:t>
            </a:r>
          </a:p>
        </p:txBody>
      </p:sp>
    </p:spTree>
    <p:extLst>
      <p:ext uri="{BB962C8B-B14F-4D97-AF65-F5344CB8AC3E}">
        <p14:creationId xmlns:p14="http://schemas.microsoft.com/office/powerpoint/2010/main" val="1876282326"/>
      </p:ext>
    </p:extLst>
  </p:cSld>
</p:sld>
</file>

<file path=ppt/slides/slide7.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DA31C0-61EC-4388-B970-B608A45C0D8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FED286-72FA-4B33-81EC-E5169BD57444}"/>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Three candidate invariants</a:t>
            </a:r>
          </a:p>
        </p:txBody>
      </p:sp>
      <p:sp>
        <p:nvSpPr>
          <p:cNvPr id="3" name="">
            <a:extLst xmlns:a="http://schemas.openxmlformats.org/drawingml/2006/main">
              <a:ext uri="{FF2B5EF4-FFF2-40B4-BE49-F238E27FC236}">
                <a16:creationId xmlns:a16="http://schemas.microsoft.com/office/drawing/2014/main" id="{B488AE77-1327-46AF-8CE9-546D53A8473B}"/>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A0EB1D-894C-4EC0-873A-FC9E916C97B6}"/>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7/9</a:t>
            </a:r>
          </a:p>
        </p:txBody>
      </p:sp>
      <p:sp>
        <p:nvSpPr>
          <p:cNvPr id="5" name="">
            <a:extLst xmlns:a="http://schemas.openxmlformats.org/drawingml/2006/main">
              <a:ext uri="{FF2B5EF4-FFF2-40B4-BE49-F238E27FC236}">
                <a16:creationId xmlns:a16="http://schemas.microsoft.com/office/drawing/2014/main" id="{076A9899-B790-4728-B213-E27B83F87A16}"/>
              </a:ext>
            </a:extLst>
          </p:cNvPr>
          <p:cNvSpPr>
            <a:spLocks xmlns:a="http://schemas.openxmlformats.org/drawingml/2006/main" noGrp="1"/>
          </p:cNvSpPr>
          <p:nvPr/>
        </p:nvSpPr>
        <p:spPr>
          <a:xfrm xmlns:a="http://schemas.openxmlformats.org/drawingml/2006/main">
            <a:off x="762000" y="183832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B766D"/>
                </a:solidFill>
              </a:defRPr>
            </a:defPPr>
            <a:lvl1pPr>
              <a:defRPr sz="2100" b="1">
                <a:solidFill>
                  <a:srgbClr val="0B766D"/>
                </a:solidFill>
              </a:defRPr>
            </a:lvl1pPr>
            <a:lvl2pPr>
              <a:defRPr sz="2100" b="1">
                <a:solidFill>
                  <a:srgbClr val="0B766D"/>
                </a:solidFill>
              </a:defRPr>
            </a:lvl2pPr>
            <a:lvl3pPr>
              <a:defRPr sz="2100" b="1">
                <a:solidFill>
                  <a:srgbClr val="0B766D"/>
                </a:solidFill>
              </a:defRPr>
            </a:lvl3pPr>
            <a:lvl4pPr>
              <a:defRPr sz="2100" b="1">
                <a:solidFill>
                  <a:srgbClr val="0B766D"/>
                </a:solidFill>
              </a:defRPr>
            </a:lvl4pPr>
            <a:lvl5pPr>
              <a:defRPr sz="2100" b="1">
                <a:solidFill>
                  <a:srgbClr val="0B766D"/>
                </a:solidFill>
              </a:defRPr>
            </a:lvl5pPr>
            <a:lvl6pPr>
              <a:defRPr sz="2100" b="1">
                <a:solidFill>
                  <a:srgbClr val="0B766D"/>
                </a:solidFill>
              </a:defRPr>
            </a:lvl6pPr>
            <a:lvl7pPr>
              <a:defRPr sz="2100" b="1">
                <a:solidFill>
                  <a:srgbClr val="0B766D"/>
                </a:solidFill>
              </a:defRPr>
            </a:lvl7pPr>
            <a:lvl8pPr>
              <a:defRPr sz="2100" b="1">
                <a:solidFill>
                  <a:srgbClr val="0B766D"/>
                </a:solidFill>
              </a:defRPr>
            </a:lvl8pPr>
            <a:lvl9pPr>
              <a:defRPr sz="2100" b="1">
                <a:solidFill>
                  <a:srgbClr val="0B766D"/>
                </a:solidFill>
              </a:defRPr>
            </a:lvl9pPr>
          </a:lstStyle>
          <a:p xmlns:a="http://schemas.openxmlformats.org/drawingml/2006/main">
            <a:pPr>
              <a:defRPr sz="2100" b="1">
                <a:solidFill>
                  <a:srgbClr val="0B766D"/>
                </a:solidFill>
              </a:defRPr>
            </a:pPr>
            <a:r>
              <a:rPr sz="2100" b="1">
                <a:solidFill>
                  <a:srgbClr val="0B766D"/>
                </a:solidFill>
              </a:rPr>
              <a:t>Per-session budget</a:t>
            </a:r>
          </a:p>
        </p:txBody>
      </p:sp>
      <p:sp>
        <p:nvSpPr>
          <p:cNvPr id="6" name="">
            <a:extLst xmlns:a="http://schemas.openxmlformats.org/drawingml/2006/main">
              <a:ext uri="{FF2B5EF4-FFF2-40B4-BE49-F238E27FC236}">
                <a16:creationId xmlns:a16="http://schemas.microsoft.com/office/drawing/2014/main" id="{10D6EB8F-CCCF-402B-A2E9-CEF9E73B3EFE}"/>
              </a:ext>
            </a:extLst>
          </p:cNvPr>
          <p:cNvSpPr>
            <a:spLocks xmlns:a="http://schemas.openxmlformats.org/drawingml/2006/main" noGrp="1"/>
          </p:cNvSpPr>
          <p:nvPr/>
        </p:nvSpPr>
        <p:spPr>
          <a:xfrm xmlns:a="http://schemas.openxmlformats.org/drawingml/2006/main">
            <a:off x="4238625" y="1838325"/>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9232A"/>
                </a:solidFill>
              </a:defRPr>
            </a:defPPr>
            <a:lvl1pPr>
              <a:defRPr sz="1725" b="0">
                <a:solidFill>
                  <a:srgbClr val="19232A"/>
                </a:solidFill>
              </a:defRPr>
            </a:lvl1pPr>
            <a:lvl2pPr>
              <a:defRPr sz="1725" b="0">
                <a:solidFill>
                  <a:srgbClr val="19232A"/>
                </a:solidFill>
              </a:defRPr>
            </a:lvl2pPr>
            <a:lvl3pPr>
              <a:defRPr sz="1725" b="0">
                <a:solidFill>
                  <a:srgbClr val="19232A"/>
                </a:solidFill>
              </a:defRPr>
            </a:lvl3pPr>
            <a:lvl4pPr>
              <a:defRPr sz="1725" b="0">
                <a:solidFill>
                  <a:srgbClr val="19232A"/>
                </a:solidFill>
              </a:defRPr>
            </a:lvl4pPr>
            <a:lvl5pPr>
              <a:defRPr sz="1725" b="0">
                <a:solidFill>
                  <a:srgbClr val="19232A"/>
                </a:solidFill>
              </a:defRPr>
            </a:lvl5pPr>
            <a:lvl6pPr>
              <a:defRPr sz="1725" b="0">
                <a:solidFill>
                  <a:srgbClr val="19232A"/>
                </a:solidFill>
              </a:defRPr>
            </a:lvl6pPr>
            <a:lvl7pPr>
              <a:defRPr sz="1725" b="0">
                <a:solidFill>
                  <a:srgbClr val="19232A"/>
                </a:solidFill>
              </a:defRPr>
            </a:lvl7pPr>
            <a:lvl8pPr>
              <a:defRPr sz="1725" b="0">
                <a:solidFill>
                  <a:srgbClr val="19232A"/>
                </a:solidFill>
              </a:defRPr>
            </a:lvl8pPr>
            <a:lvl9pPr>
              <a:defRPr sz="1725" b="0">
                <a:solidFill>
                  <a:srgbClr val="19232A"/>
                </a:solidFill>
              </a:defRPr>
            </a:lvl9pPr>
          </a:lstStyle>
          <a:p xmlns:a="http://schemas.openxmlformats.org/drawingml/2006/main">
            <a:pPr>
              <a:defRPr sz="1725" b="0">
                <a:solidFill>
                  <a:srgbClr val="19232A"/>
                </a:solidFill>
              </a:defRPr>
            </a:pPr>
            <a:r>
              <a:rPr sz="1725" b="0">
                <a:solidFill>
                  <a:srgbClr val="19232A"/>
                </a:solidFill>
              </a:rPr>
              <a:t>Bound queued messages or bytes for one offline client.</a:t>
            </a:r>
          </a:p>
        </p:txBody>
      </p:sp>
      <p:sp>
        <p:nvSpPr>
          <p:cNvPr id="7" name="">
            <a:extLst xmlns:a="http://schemas.openxmlformats.org/drawingml/2006/main">
              <a:ext uri="{FF2B5EF4-FFF2-40B4-BE49-F238E27FC236}">
                <a16:creationId xmlns:a16="http://schemas.microsoft.com/office/drawing/2014/main" id="{9A4EDE1C-38F4-4AAB-8D5E-138779977A61}"/>
              </a:ext>
            </a:extLst>
          </p:cNvPr>
          <p:cNvSpPr>
            <a:spLocks xmlns:a="http://schemas.openxmlformats.org/drawingml/2006/main" noGrp="1"/>
          </p:cNvSpPr>
          <p:nvPr/>
        </p:nvSpPr>
        <p:spPr>
          <a:xfrm xmlns:a="http://schemas.openxmlformats.org/drawingml/2006/main">
            <a:off x="4238625" y="2457450"/>
            <a:ext cx="704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B5961"/>
                </a:solidFill>
              </a:defRPr>
            </a:defPPr>
            <a:lvl1pPr>
              <a:defRPr sz="1575" b="0">
                <a:solidFill>
                  <a:srgbClr val="4B5961"/>
                </a:solidFill>
              </a:defRPr>
            </a:lvl1pPr>
            <a:lvl2pPr>
              <a:defRPr sz="1575" b="0">
                <a:solidFill>
                  <a:srgbClr val="4B5961"/>
                </a:solidFill>
              </a:defRPr>
            </a:lvl2pPr>
            <a:lvl3pPr>
              <a:defRPr sz="1575" b="0">
                <a:solidFill>
                  <a:srgbClr val="4B5961"/>
                </a:solidFill>
              </a:defRPr>
            </a:lvl3pPr>
            <a:lvl4pPr>
              <a:defRPr sz="1575" b="0">
                <a:solidFill>
                  <a:srgbClr val="4B5961"/>
                </a:solidFill>
              </a:defRPr>
            </a:lvl4pPr>
            <a:lvl5pPr>
              <a:defRPr sz="1575" b="0">
                <a:solidFill>
                  <a:srgbClr val="4B5961"/>
                </a:solidFill>
              </a:defRPr>
            </a:lvl5pPr>
            <a:lvl6pPr>
              <a:defRPr sz="1575" b="0">
                <a:solidFill>
                  <a:srgbClr val="4B5961"/>
                </a:solidFill>
              </a:defRPr>
            </a:lvl6pPr>
            <a:lvl7pPr>
              <a:defRPr sz="1575" b="0">
                <a:solidFill>
                  <a:srgbClr val="4B5961"/>
                </a:solidFill>
              </a:defRPr>
            </a:lvl7pPr>
            <a:lvl8pPr>
              <a:defRPr sz="1575" b="0">
                <a:solidFill>
                  <a:srgbClr val="4B5961"/>
                </a:solidFill>
              </a:defRPr>
            </a:lvl8pPr>
            <a:lvl9pPr>
              <a:defRPr sz="1575" b="0">
                <a:solidFill>
                  <a:srgbClr val="4B5961"/>
                </a:solidFill>
              </a:defRPr>
            </a:lvl9pPr>
          </a:lstStyle>
          <a:p xmlns:a="http://schemas.openxmlformats.org/drawingml/2006/main">
            <a:pPr>
              <a:defRPr sz="1575" b="0">
                <a:solidFill>
                  <a:srgbClr val="4B5961"/>
                </a:solidFill>
              </a:defRPr>
            </a:pPr>
            <a:r>
              <a:rPr sz="1575" b="0">
                <a:solidFill>
                  <a:srgbClr val="4B5961"/>
                </a:solidFill>
              </a:rPr>
              <a:t>Risk: lost messages during a real outage.</a:t>
            </a:r>
          </a:p>
        </p:txBody>
      </p:sp>
      <p:sp>
        <p:nvSpPr>
          <p:cNvPr id="8" name="">
            <a:extLst xmlns:a="http://schemas.openxmlformats.org/drawingml/2006/main">
              <a:ext uri="{FF2B5EF4-FFF2-40B4-BE49-F238E27FC236}">
                <a16:creationId xmlns:a16="http://schemas.microsoft.com/office/drawing/2014/main" id="{3B508220-10ED-4C69-B620-C89D0DEB15C7}"/>
              </a:ext>
            </a:extLst>
          </p:cNvPr>
          <p:cNvSpPr>
            <a:spLocks xmlns:a="http://schemas.openxmlformats.org/drawingml/2006/main" noGrp="1"/>
          </p:cNvSpPr>
          <p:nvPr/>
        </p:nvSpPr>
        <p:spPr>
          <a:xfrm xmlns:a="http://schemas.openxmlformats.org/drawingml/2006/main">
            <a:off x="762000" y="3048000"/>
            <a:ext cx="103822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80239BA-41BB-46D3-A325-63C5ACDF8B9A}"/>
              </a:ext>
            </a:extLst>
          </p:cNvPr>
          <p:cNvSpPr>
            <a:spLocks xmlns:a="http://schemas.openxmlformats.org/drawingml/2006/main" noGrp="1"/>
          </p:cNvSpPr>
          <p:nvPr/>
        </p:nvSpPr>
        <p:spPr>
          <a:xfrm xmlns:a="http://schemas.openxmlformats.org/drawingml/2006/main">
            <a:off x="762000" y="317182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B766D"/>
                </a:solidFill>
              </a:defRPr>
            </a:defPPr>
            <a:lvl1pPr>
              <a:defRPr sz="2100" b="1">
                <a:solidFill>
                  <a:srgbClr val="0B766D"/>
                </a:solidFill>
              </a:defRPr>
            </a:lvl1pPr>
            <a:lvl2pPr>
              <a:defRPr sz="2100" b="1">
                <a:solidFill>
                  <a:srgbClr val="0B766D"/>
                </a:solidFill>
              </a:defRPr>
            </a:lvl2pPr>
            <a:lvl3pPr>
              <a:defRPr sz="2100" b="1">
                <a:solidFill>
                  <a:srgbClr val="0B766D"/>
                </a:solidFill>
              </a:defRPr>
            </a:lvl3pPr>
            <a:lvl4pPr>
              <a:defRPr sz="2100" b="1">
                <a:solidFill>
                  <a:srgbClr val="0B766D"/>
                </a:solidFill>
              </a:defRPr>
            </a:lvl4pPr>
            <a:lvl5pPr>
              <a:defRPr sz="2100" b="1">
                <a:solidFill>
                  <a:srgbClr val="0B766D"/>
                </a:solidFill>
              </a:defRPr>
            </a:lvl5pPr>
            <a:lvl6pPr>
              <a:defRPr sz="2100" b="1">
                <a:solidFill>
                  <a:srgbClr val="0B766D"/>
                </a:solidFill>
              </a:defRPr>
            </a:lvl6pPr>
            <a:lvl7pPr>
              <a:defRPr sz="2100" b="1">
                <a:solidFill>
                  <a:srgbClr val="0B766D"/>
                </a:solidFill>
              </a:defRPr>
            </a:lvl7pPr>
            <a:lvl8pPr>
              <a:defRPr sz="2100" b="1">
                <a:solidFill>
                  <a:srgbClr val="0B766D"/>
                </a:solidFill>
              </a:defRPr>
            </a:lvl8pPr>
            <a:lvl9pPr>
              <a:defRPr sz="2100" b="1">
                <a:solidFill>
                  <a:srgbClr val="0B766D"/>
                </a:solidFill>
              </a:defRPr>
            </a:lvl9pPr>
          </a:lstStyle>
          <a:p xmlns:a="http://schemas.openxmlformats.org/drawingml/2006/main">
            <a:pPr>
              <a:defRPr sz="2100" b="1">
                <a:solidFill>
                  <a:srgbClr val="0B766D"/>
                </a:solidFill>
              </a:defRPr>
            </a:pPr>
            <a:r>
              <a:rPr sz="2100" b="1">
                <a:solidFill>
                  <a:srgbClr val="0B766D"/>
                </a:solidFill>
              </a:rPr>
              <a:t>Global state budget</a:t>
            </a:r>
          </a:p>
        </p:txBody>
      </p:sp>
      <p:sp>
        <p:nvSpPr>
          <p:cNvPr id="10" name="">
            <a:extLst xmlns:a="http://schemas.openxmlformats.org/drawingml/2006/main">
              <a:ext uri="{FF2B5EF4-FFF2-40B4-BE49-F238E27FC236}">
                <a16:creationId xmlns:a16="http://schemas.microsoft.com/office/drawing/2014/main" id="{436C5034-3158-4A9A-B676-234C1713C9DB}"/>
              </a:ext>
            </a:extLst>
          </p:cNvPr>
          <p:cNvSpPr>
            <a:spLocks xmlns:a="http://schemas.openxmlformats.org/drawingml/2006/main" noGrp="1"/>
          </p:cNvSpPr>
          <p:nvPr/>
        </p:nvSpPr>
        <p:spPr>
          <a:xfrm xmlns:a="http://schemas.openxmlformats.org/drawingml/2006/main">
            <a:off x="4238625" y="3171825"/>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9232A"/>
                </a:solidFill>
              </a:defRPr>
            </a:defPPr>
            <a:lvl1pPr>
              <a:defRPr sz="1725" b="0">
                <a:solidFill>
                  <a:srgbClr val="19232A"/>
                </a:solidFill>
              </a:defRPr>
            </a:lvl1pPr>
            <a:lvl2pPr>
              <a:defRPr sz="1725" b="0">
                <a:solidFill>
                  <a:srgbClr val="19232A"/>
                </a:solidFill>
              </a:defRPr>
            </a:lvl2pPr>
            <a:lvl3pPr>
              <a:defRPr sz="1725" b="0">
                <a:solidFill>
                  <a:srgbClr val="19232A"/>
                </a:solidFill>
              </a:defRPr>
            </a:lvl3pPr>
            <a:lvl4pPr>
              <a:defRPr sz="1725" b="0">
                <a:solidFill>
                  <a:srgbClr val="19232A"/>
                </a:solidFill>
              </a:defRPr>
            </a:lvl4pPr>
            <a:lvl5pPr>
              <a:defRPr sz="1725" b="0">
                <a:solidFill>
                  <a:srgbClr val="19232A"/>
                </a:solidFill>
              </a:defRPr>
            </a:lvl5pPr>
            <a:lvl6pPr>
              <a:defRPr sz="1725" b="0">
                <a:solidFill>
                  <a:srgbClr val="19232A"/>
                </a:solidFill>
              </a:defRPr>
            </a:lvl6pPr>
            <a:lvl7pPr>
              <a:defRPr sz="1725" b="0">
                <a:solidFill>
                  <a:srgbClr val="19232A"/>
                </a:solidFill>
              </a:defRPr>
            </a:lvl7pPr>
            <a:lvl8pPr>
              <a:defRPr sz="1725" b="0">
                <a:solidFill>
                  <a:srgbClr val="19232A"/>
                </a:solidFill>
              </a:defRPr>
            </a:lvl8pPr>
            <a:lvl9pPr>
              <a:defRPr sz="1725" b="0">
                <a:solidFill>
                  <a:srgbClr val="19232A"/>
                </a:solidFill>
              </a:defRPr>
            </a:lvl9pPr>
          </a:lstStyle>
          <a:p xmlns:a="http://schemas.openxmlformats.org/drawingml/2006/main">
            <a:pPr>
              <a:defRPr sz="1725" b="0">
                <a:solidFill>
                  <a:srgbClr val="19232A"/>
                </a:solidFill>
              </a:defRPr>
            </a:pPr>
            <a:r>
              <a:rPr sz="1725" b="0">
                <a:solidFill>
                  <a:srgbClr val="19232A"/>
                </a:solidFill>
              </a:rPr>
              <a:t>Track retained state and disconnected-session age.</a:t>
            </a:r>
          </a:p>
        </p:txBody>
      </p:sp>
      <p:sp>
        <p:nvSpPr>
          <p:cNvPr id="11" name="">
            <a:extLst xmlns:a="http://schemas.openxmlformats.org/drawingml/2006/main">
              <a:ext uri="{FF2B5EF4-FFF2-40B4-BE49-F238E27FC236}">
                <a16:creationId xmlns:a16="http://schemas.microsoft.com/office/drawing/2014/main" id="{285F745A-91E4-47BE-BF9B-24ADBCE7CF94}"/>
              </a:ext>
            </a:extLst>
          </p:cNvPr>
          <p:cNvSpPr>
            <a:spLocks xmlns:a="http://schemas.openxmlformats.org/drawingml/2006/main" noGrp="1"/>
          </p:cNvSpPr>
          <p:nvPr/>
        </p:nvSpPr>
        <p:spPr>
          <a:xfrm xmlns:a="http://schemas.openxmlformats.org/drawingml/2006/main">
            <a:off x="4238625" y="3790950"/>
            <a:ext cx="704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B5961"/>
                </a:solidFill>
              </a:defRPr>
            </a:defPPr>
            <a:lvl1pPr>
              <a:defRPr sz="1575" b="0">
                <a:solidFill>
                  <a:srgbClr val="4B5961"/>
                </a:solidFill>
              </a:defRPr>
            </a:lvl1pPr>
            <a:lvl2pPr>
              <a:defRPr sz="1575" b="0">
                <a:solidFill>
                  <a:srgbClr val="4B5961"/>
                </a:solidFill>
              </a:defRPr>
            </a:lvl2pPr>
            <a:lvl3pPr>
              <a:defRPr sz="1575" b="0">
                <a:solidFill>
                  <a:srgbClr val="4B5961"/>
                </a:solidFill>
              </a:defRPr>
            </a:lvl3pPr>
            <a:lvl4pPr>
              <a:defRPr sz="1575" b="0">
                <a:solidFill>
                  <a:srgbClr val="4B5961"/>
                </a:solidFill>
              </a:defRPr>
            </a:lvl4pPr>
            <a:lvl5pPr>
              <a:defRPr sz="1575" b="0">
                <a:solidFill>
                  <a:srgbClr val="4B5961"/>
                </a:solidFill>
              </a:defRPr>
            </a:lvl5pPr>
            <a:lvl6pPr>
              <a:defRPr sz="1575" b="0">
                <a:solidFill>
                  <a:srgbClr val="4B5961"/>
                </a:solidFill>
              </a:defRPr>
            </a:lvl6pPr>
            <a:lvl7pPr>
              <a:defRPr sz="1575" b="0">
                <a:solidFill>
                  <a:srgbClr val="4B5961"/>
                </a:solidFill>
              </a:defRPr>
            </a:lvl7pPr>
            <a:lvl8pPr>
              <a:defRPr sz="1575" b="0">
                <a:solidFill>
                  <a:srgbClr val="4B5961"/>
                </a:solidFill>
              </a:defRPr>
            </a:lvl8pPr>
            <a:lvl9pPr>
              <a:defRPr sz="1575" b="0">
                <a:solidFill>
                  <a:srgbClr val="4B5961"/>
                </a:solidFill>
              </a:defRPr>
            </a:lvl9pPr>
          </a:lstStyle>
          <a:p xmlns:a="http://schemas.openxmlformats.org/drawingml/2006/main">
            <a:pPr>
              <a:defRPr sz="1575" b="0">
                <a:solidFill>
                  <a:srgbClr val="4B5961"/>
                </a:solidFill>
              </a:defRPr>
            </a:pPr>
            <a:r>
              <a:rPr sz="1575" b="0">
                <a:solidFill>
                  <a:srgbClr val="4B5961"/>
                </a:solidFill>
              </a:rPr>
              <a:t>Risk: fleet restart may resemble abuse.</a:t>
            </a:r>
          </a:p>
        </p:txBody>
      </p:sp>
      <p:sp>
        <p:nvSpPr>
          <p:cNvPr id="12" name="">
            <a:extLst xmlns:a="http://schemas.openxmlformats.org/drawingml/2006/main">
              <a:ext uri="{FF2B5EF4-FFF2-40B4-BE49-F238E27FC236}">
                <a16:creationId xmlns:a16="http://schemas.microsoft.com/office/drawing/2014/main" id="{55B519DB-BB37-4F50-96E7-4AD64F315F8B}"/>
              </a:ext>
            </a:extLst>
          </p:cNvPr>
          <p:cNvSpPr>
            <a:spLocks xmlns:a="http://schemas.openxmlformats.org/drawingml/2006/main" noGrp="1"/>
          </p:cNvSpPr>
          <p:nvPr/>
        </p:nvSpPr>
        <p:spPr>
          <a:xfrm xmlns:a="http://schemas.openxmlformats.org/drawingml/2006/main">
            <a:off x="762000" y="4381500"/>
            <a:ext cx="10382250" cy="9525"/>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EB1CAB-B1A1-441F-BA14-607AF799658A}"/>
              </a:ext>
            </a:extLst>
          </p:cNvPr>
          <p:cNvSpPr>
            <a:spLocks xmlns:a="http://schemas.openxmlformats.org/drawingml/2006/main" noGrp="1"/>
          </p:cNvSpPr>
          <p:nvPr/>
        </p:nvSpPr>
        <p:spPr>
          <a:xfrm xmlns:a="http://schemas.openxmlformats.org/drawingml/2006/main">
            <a:off x="762000" y="450532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B766D"/>
                </a:solidFill>
              </a:defRPr>
            </a:defPPr>
            <a:lvl1pPr>
              <a:defRPr sz="2100" b="1">
                <a:solidFill>
                  <a:srgbClr val="0B766D"/>
                </a:solidFill>
              </a:defRPr>
            </a:lvl1pPr>
            <a:lvl2pPr>
              <a:defRPr sz="2100" b="1">
                <a:solidFill>
                  <a:srgbClr val="0B766D"/>
                </a:solidFill>
              </a:defRPr>
            </a:lvl2pPr>
            <a:lvl3pPr>
              <a:defRPr sz="2100" b="1">
                <a:solidFill>
                  <a:srgbClr val="0B766D"/>
                </a:solidFill>
              </a:defRPr>
            </a:lvl3pPr>
            <a:lvl4pPr>
              <a:defRPr sz="2100" b="1">
                <a:solidFill>
                  <a:srgbClr val="0B766D"/>
                </a:solidFill>
              </a:defRPr>
            </a:lvl4pPr>
            <a:lvl5pPr>
              <a:defRPr sz="2100" b="1">
                <a:solidFill>
                  <a:srgbClr val="0B766D"/>
                </a:solidFill>
              </a:defRPr>
            </a:lvl5pPr>
            <a:lvl6pPr>
              <a:defRPr sz="2100" b="1">
                <a:solidFill>
                  <a:srgbClr val="0B766D"/>
                </a:solidFill>
              </a:defRPr>
            </a:lvl6pPr>
            <a:lvl7pPr>
              <a:defRPr sz="2100" b="1">
                <a:solidFill>
                  <a:srgbClr val="0B766D"/>
                </a:solidFill>
              </a:defRPr>
            </a:lvl7pPr>
            <a:lvl8pPr>
              <a:defRPr sz="2100" b="1">
                <a:solidFill>
                  <a:srgbClr val="0B766D"/>
                </a:solidFill>
              </a:defRPr>
            </a:lvl8pPr>
            <a:lvl9pPr>
              <a:defRPr sz="2100" b="1">
                <a:solidFill>
                  <a:srgbClr val="0B766D"/>
                </a:solidFill>
              </a:defRPr>
            </a:lvl9pPr>
          </a:lstStyle>
          <a:p xmlns:a="http://schemas.openxmlformats.org/drawingml/2006/main">
            <a:pPr>
              <a:defRPr sz="2100" b="1">
                <a:solidFill>
                  <a:srgbClr val="0B766D"/>
                </a:solidFill>
              </a:defRPr>
            </a:pPr>
            <a:r>
              <a:rPr sz="2100" b="1">
                <a:solidFill>
                  <a:srgbClr val="0B766D"/>
                </a:solidFill>
              </a:rPr>
              <a:t>Session creation rate</a:t>
            </a:r>
          </a:p>
        </p:txBody>
      </p:sp>
      <p:sp>
        <p:nvSpPr>
          <p:cNvPr id="14" name="">
            <a:extLst xmlns:a="http://schemas.openxmlformats.org/drawingml/2006/main">
              <a:ext uri="{FF2B5EF4-FFF2-40B4-BE49-F238E27FC236}">
                <a16:creationId xmlns:a16="http://schemas.microsoft.com/office/drawing/2014/main" id="{7234BCF9-B004-4B60-9841-E77A69C95AB1}"/>
              </a:ext>
            </a:extLst>
          </p:cNvPr>
          <p:cNvSpPr>
            <a:spLocks xmlns:a="http://schemas.openxmlformats.org/drawingml/2006/main" noGrp="1"/>
          </p:cNvSpPr>
          <p:nvPr/>
        </p:nvSpPr>
        <p:spPr>
          <a:xfrm xmlns:a="http://schemas.openxmlformats.org/drawingml/2006/main">
            <a:off x="4238625" y="4505325"/>
            <a:ext cx="704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9232A"/>
                </a:solidFill>
              </a:defRPr>
            </a:defPPr>
            <a:lvl1pPr>
              <a:defRPr sz="1725" b="0">
                <a:solidFill>
                  <a:srgbClr val="19232A"/>
                </a:solidFill>
              </a:defRPr>
            </a:lvl1pPr>
            <a:lvl2pPr>
              <a:defRPr sz="1725" b="0">
                <a:solidFill>
                  <a:srgbClr val="19232A"/>
                </a:solidFill>
              </a:defRPr>
            </a:lvl2pPr>
            <a:lvl3pPr>
              <a:defRPr sz="1725" b="0">
                <a:solidFill>
                  <a:srgbClr val="19232A"/>
                </a:solidFill>
              </a:defRPr>
            </a:lvl3pPr>
            <a:lvl4pPr>
              <a:defRPr sz="1725" b="0">
                <a:solidFill>
                  <a:srgbClr val="19232A"/>
                </a:solidFill>
              </a:defRPr>
            </a:lvl4pPr>
            <a:lvl5pPr>
              <a:defRPr sz="1725" b="0">
                <a:solidFill>
                  <a:srgbClr val="19232A"/>
                </a:solidFill>
              </a:defRPr>
            </a:lvl5pPr>
            <a:lvl6pPr>
              <a:defRPr sz="1725" b="0">
                <a:solidFill>
                  <a:srgbClr val="19232A"/>
                </a:solidFill>
              </a:defRPr>
            </a:lvl6pPr>
            <a:lvl7pPr>
              <a:defRPr sz="1725" b="0">
                <a:solidFill>
                  <a:srgbClr val="19232A"/>
                </a:solidFill>
              </a:defRPr>
            </a:lvl7pPr>
            <a:lvl8pPr>
              <a:defRPr sz="1725" b="0">
                <a:solidFill>
                  <a:srgbClr val="19232A"/>
                </a:solidFill>
              </a:defRPr>
            </a:lvl8pPr>
            <a:lvl9pPr>
              <a:defRPr sz="1725" b="0">
                <a:solidFill>
                  <a:srgbClr val="19232A"/>
                </a:solidFill>
              </a:defRPr>
            </a:lvl9pPr>
          </a:lstStyle>
          <a:p xmlns:a="http://schemas.openxmlformats.org/drawingml/2006/main">
            <a:pPr>
              <a:defRPr sz="1725" b="0">
                <a:solidFill>
                  <a:srgbClr val="19232A"/>
                </a:solidFill>
              </a:defRPr>
            </a:pPr>
            <a:r>
              <a:rPr sz="1725" b="0">
                <a:solidFill>
                  <a:srgbClr val="19232A"/>
                </a:solidFill>
              </a:rPr>
              <a:t>Limit repeatedly abandoned durable sessions per identity.</a:t>
            </a:r>
          </a:p>
        </p:txBody>
      </p:sp>
      <p:sp>
        <p:nvSpPr>
          <p:cNvPr id="15" name="">
            <a:extLst xmlns:a="http://schemas.openxmlformats.org/drawingml/2006/main">
              <a:ext uri="{FF2B5EF4-FFF2-40B4-BE49-F238E27FC236}">
                <a16:creationId xmlns:a16="http://schemas.microsoft.com/office/drawing/2014/main" id="{26464A32-5F71-487B-9FE7-956A2998F852}"/>
              </a:ext>
            </a:extLst>
          </p:cNvPr>
          <p:cNvSpPr>
            <a:spLocks xmlns:a="http://schemas.openxmlformats.org/drawingml/2006/main" noGrp="1"/>
          </p:cNvSpPr>
          <p:nvPr/>
        </p:nvSpPr>
        <p:spPr>
          <a:xfrm xmlns:a="http://schemas.openxmlformats.org/drawingml/2006/main">
            <a:off x="4238625" y="5124450"/>
            <a:ext cx="704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B5961"/>
                </a:solidFill>
              </a:defRPr>
            </a:defPPr>
            <a:lvl1pPr>
              <a:defRPr sz="1575" b="0">
                <a:solidFill>
                  <a:srgbClr val="4B5961"/>
                </a:solidFill>
              </a:defRPr>
            </a:lvl1pPr>
            <a:lvl2pPr>
              <a:defRPr sz="1575" b="0">
                <a:solidFill>
                  <a:srgbClr val="4B5961"/>
                </a:solidFill>
              </a:defRPr>
            </a:lvl2pPr>
            <a:lvl3pPr>
              <a:defRPr sz="1575" b="0">
                <a:solidFill>
                  <a:srgbClr val="4B5961"/>
                </a:solidFill>
              </a:defRPr>
            </a:lvl3pPr>
            <a:lvl4pPr>
              <a:defRPr sz="1575" b="0">
                <a:solidFill>
                  <a:srgbClr val="4B5961"/>
                </a:solidFill>
              </a:defRPr>
            </a:lvl4pPr>
            <a:lvl5pPr>
              <a:defRPr sz="1575" b="0">
                <a:solidFill>
                  <a:srgbClr val="4B5961"/>
                </a:solidFill>
              </a:defRPr>
            </a:lvl5pPr>
            <a:lvl6pPr>
              <a:defRPr sz="1575" b="0">
                <a:solidFill>
                  <a:srgbClr val="4B5961"/>
                </a:solidFill>
              </a:defRPr>
            </a:lvl6pPr>
            <a:lvl7pPr>
              <a:defRPr sz="1575" b="0">
                <a:solidFill>
                  <a:srgbClr val="4B5961"/>
                </a:solidFill>
              </a:defRPr>
            </a:lvl7pPr>
            <a:lvl8pPr>
              <a:defRPr sz="1575" b="0">
                <a:solidFill>
                  <a:srgbClr val="4B5961"/>
                </a:solidFill>
              </a:defRPr>
            </a:lvl8pPr>
            <a:lvl9pPr>
              <a:defRPr sz="1575" b="0">
                <a:solidFill>
                  <a:srgbClr val="4B5961"/>
                </a:solidFill>
              </a:defRPr>
            </a:lvl9pPr>
          </a:lstStyle>
          <a:p xmlns:a="http://schemas.openxmlformats.org/drawingml/2006/main">
            <a:pPr>
              <a:defRPr sz="1575" b="0">
                <a:solidFill>
                  <a:srgbClr val="4B5961"/>
                </a:solidFill>
              </a:defRPr>
            </a:pPr>
            <a:r>
              <a:rPr sz="1575" b="0">
                <a:solidFill>
                  <a:srgbClr val="4B5961"/>
                </a:solidFill>
              </a:rPr>
              <a:t>Risk: device replacement and shared credentials.</a:t>
            </a:r>
          </a:p>
        </p:txBody>
      </p:sp>
    </p:spTree>
    <p:extLst>
      <p:ext uri="{BB962C8B-B14F-4D97-AF65-F5344CB8AC3E}">
        <p14:creationId xmlns:p14="http://schemas.microsoft.com/office/powerpoint/2010/main" val="1654372567"/>
      </p:ext>
    </p:extLst>
  </p:cSld>
</p:sld>
</file>

<file path=ppt/slides/slide8.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A3EC22-EC99-4EF0-B4F9-640F0F9A896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DB54A7-F951-44EE-A803-A1C174B9D42D}"/>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What this pilot cannot show yet</a:t>
            </a:r>
          </a:p>
        </p:txBody>
      </p:sp>
      <p:sp>
        <p:nvSpPr>
          <p:cNvPr id="3" name="">
            <a:extLst xmlns:a="http://schemas.openxmlformats.org/drawingml/2006/main">
              <a:ext uri="{FF2B5EF4-FFF2-40B4-BE49-F238E27FC236}">
                <a16:creationId xmlns:a16="http://schemas.microsoft.com/office/drawing/2014/main" id="{C655CB9E-023D-4006-8B82-443E729F4081}"/>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2F46E4-76BE-43CD-B597-37495E8F7C6E}"/>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8/9</a:t>
            </a:r>
          </a:p>
        </p:txBody>
      </p:sp>
      <p:sp>
        <p:nvSpPr>
          <p:cNvPr id="5" name="">
            <a:extLst xmlns:a="http://schemas.openxmlformats.org/drawingml/2006/main">
              <a:ext uri="{FF2B5EF4-FFF2-40B4-BE49-F238E27FC236}">
                <a16:creationId xmlns:a16="http://schemas.microsoft.com/office/drawing/2014/main" id="{4436D412-B8F3-4EB2-AA58-E4688EA993B9}"/>
              </a:ext>
            </a:extLst>
          </p:cNvPr>
          <p:cNvSpPr>
            <a:spLocks xmlns:a="http://schemas.openxmlformats.org/drawingml/2006/main" noGrp="1"/>
          </p:cNvSpPr>
          <p:nvPr/>
        </p:nvSpPr>
        <p:spPr>
          <a:xfrm xmlns:a="http://schemas.openxmlformats.org/drawingml/2006/main">
            <a:off x="723900" y="200977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5809001-00F3-4CC4-A233-5FE1E3F27DDB}"/>
              </a:ext>
            </a:extLst>
          </p:cNvPr>
          <p:cNvSpPr>
            <a:spLocks xmlns:a="http://schemas.openxmlformats.org/drawingml/2006/main" noGrp="1"/>
          </p:cNvSpPr>
          <p:nvPr/>
        </p:nvSpPr>
        <p:spPr>
          <a:xfrm xmlns:a="http://schemas.openxmlformats.org/drawingml/2006/main">
            <a:off x="1000125" y="191452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No broker vulnerability or MQTT violation was demonstrated.</a:t>
            </a:r>
          </a:p>
        </p:txBody>
      </p:sp>
      <p:sp>
        <p:nvSpPr>
          <p:cNvPr id="7" name="">
            <a:extLst xmlns:a="http://schemas.openxmlformats.org/drawingml/2006/main">
              <a:ext uri="{FF2B5EF4-FFF2-40B4-BE49-F238E27FC236}">
                <a16:creationId xmlns:a16="http://schemas.microsoft.com/office/drawing/2014/main" id="{B4CE979E-398D-4EA0-9AE0-76AD05A7F706}"/>
              </a:ext>
            </a:extLst>
          </p:cNvPr>
          <p:cNvSpPr>
            <a:spLocks xmlns:a="http://schemas.openxmlformats.org/drawingml/2006/main" noGrp="1"/>
          </p:cNvSpPr>
          <p:nvPr/>
        </p:nvSpPr>
        <p:spPr>
          <a:xfrm xmlns:a="http://schemas.openxmlformats.org/drawingml/2006/main">
            <a:off x="723900" y="2971800"/>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71D2C2-4136-4303-B54B-F28659B901BB}"/>
              </a:ext>
            </a:extLst>
          </p:cNvPr>
          <p:cNvSpPr>
            <a:spLocks xmlns:a="http://schemas.openxmlformats.org/drawingml/2006/main" noGrp="1"/>
          </p:cNvSpPr>
          <p:nvPr/>
        </p:nvSpPr>
        <p:spPr>
          <a:xfrm xmlns:a="http://schemas.openxmlformats.org/drawingml/2006/main">
            <a:off x="1000125" y="2876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The queue cap is Mosquitto's existing control, not our invention.</a:t>
            </a:r>
          </a:p>
        </p:txBody>
      </p:sp>
      <p:sp>
        <p:nvSpPr>
          <p:cNvPr id="9" name="">
            <a:extLst xmlns:a="http://schemas.openxmlformats.org/drawingml/2006/main">
              <a:ext uri="{FF2B5EF4-FFF2-40B4-BE49-F238E27FC236}">
                <a16:creationId xmlns:a16="http://schemas.microsoft.com/office/drawing/2014/main" id="{F1D39C36-9992-4892-A479-365A9595D544}"/>
              </a:ext>
            </a:extLst>
          </p:cNvPr>
          <p:cNvSpPr>
            <a:spLocks xmlns:a="http://schemas.openxmlformats.org/drawingml/2006/main" noGrp="1"/>
          </p:cNvSpPr>
          <p:nvPr/>
        </p:nvSpPr>
        <p:spPr>
          <a:xfrm xmlns:a="http://schemas.openxmlformats.org/drawingml/2006/main">
            <a:off x="723900" y="393382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5000FF-E74C-4160-A13A-6ED514753BE8}"/>
              </a:ext>
            </a:extLst>
          </p:cNvPr>
          <p:cNvSpPr>
            <a:spLocks xmlns:a="http://schemas.openxmlformats.org/drawingml/2006/main" noGrp="1"/>
          </p:cNvSpPr>
          <p:nvPr/>
        </p:nvSpPr>
        <p:spPr>
          <a:xfrm xmlns:a="http://schemas.openxmlformats.org/drawingml/2006/main">
            <a:off x="1000125" y="38385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Point-in-time memory readings are too noisy for a performance claim.</a:t>
            </a:r>
          </a:p>
        </p:txBody>
      </p:sp>
      <p:sp>
        <p:nvSpPr>
          <p:cNvPr id="11" name="">
            <a:extLst xmlns:a="http://schemas.openxmlformats.org/drawingml/2006/main">
              <a:ext uri="{FF2B5EF4-FFF2-40B4-BE49-F238E27FC236}">
                <a16:creationId xmlns:a16="http://schemas.microsoft.com/office/drawing/2014/main" id="{2392AF35-8275-40BC-AE57-39938EABBCDC}"/>
              </a:ext>
            </a:extLst>
          </p:cNvPr>
          <p:cNvSpPr>
            <a:spLocks xmlns:a="http://schemas.openxmlformats.org/drawingml/2006/main" noGrp="1"/>
          </p:cNvSpPr>
          <p:nvPr/>
        </p:nvSpPr>
        <p:spPr>
          <a:xfrm xmlns:a="http://schemas.openxmlformats.org/drawingml/2006/main">
            <a:off x="1000125" y="527685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B766D"/>
                </a:solidFill>
              </a:defRPr>
            </a:defPPr>
            <a:lvl1pPr>
              <a:defRPr sz="1800" b="1">
                <a:solidFill>
                  <a:srgbClr val="0B766D"/>
                </a:solidFill>
              </a:defRPr>
            </a:lvl1pPr>
            <a:lvl2pPr>
              <a:defRPr sz="1800" b="1">
                <a:solidFill>
                  <a:srgbClr val="0B766D"/>
                </a:solidFill>
              </a:defRPr>
            </a:lvl2pPr>
            <a:lvl3pPr>
              <a:defRPr sz="1800" b="1">
                <a:solidFill>
                  <a:srgbClr val="0B766D"/>
                </a:solidFill>
              </a:defRPr>
            </a:lvl3pPr>
            <a:lvl4pPr>
              <a:defRPr sz="1800" b="1">
                <a:solidFill>
                  <a:srgbClr val="0B766D"/>
                </a:solidFill>
              </a:defRPr>
            </a:lvl4pPr>
            <a:lvl5pPr>
              <a:defRPr sz="1800" b="1">
                <a:solidFill>
                  <a:srgbClr val="0B766D"/>
                </a:solidFill>
              </a:defRPr>
            </a:lvl5pPr>
            <a:lvl6pPr>
              <a:defRPr sz="1800" b="1">
                <a:solidFill>
                  <a:srgbClr val="0B766D"/>
                </a:solidFill>
              </a:defRPr>
            </a:lvl6pPr>
            <a:lvl7pPr>
              <a:defRPr sz="1800" b="1">
                <a:solidFill>
                  <a:srgbClr val="0B766D"/>
                </a:solidFill>
              </a:defRPr>
            </a:lvl7pPr>
            <a:lvl8pPr>
              <a:defRPr sz="1800" b="1">
                <a:solidFill>
                  <a:srgbClr val="0B766D"/>
                </a:solidFill>
              </a:defRPr>
            </a:lvl8pPr>
            <a:lvl9pPr>
              <a:defRPr sz="1800" b="1">
                <a:solidFill>
                  <a:srgbClr val="0B766D"/>
                </a:solidFill>
              </a:defRPr>
            </a:lvl9pPr>
          </a:lstStyle>
          <a:p xmlns:a="http://schemas.openxmlformats.org/drawingml/2006/main">
            <a:pPr>
              <a:defRPr sz="1800" b="1">
                <a:solidFill>
                  <a:srgbClr val="0B766D"/>
                </a:solidFill>
              </a:defRPr>
            </a:pPr>
            <a:r>
              <a:rPr sz="1800" b="1">
                <a:solidFill>
                  <a:srgbClr val="0B766D"/>
                </a:solidFill>
              </a:rPr>
              <a:t>The next study needs repeated loads, benign outages, and per-client state.</a:t>
            </a:r>
          </a:p>
        </p:txBody>
      </p:sp>
    </p:spTree>
    <p:extLst>
      <p:ext uri="{BB962C8B-B14F-4D97-AF65-F5344CB8AC3E}">
        <p14:creationId xmlns:p14="http://schemas.microsoft.com/office/powerpoint/2010/main" val="1974328304"/>
      </p:ext>
    </p:extLst>
  </p:cSld>
</p:sld>
</file>

<file path=ppt/slides/slide9.xml><?xml version="1.0" encoding="utf-8"?>
<p:sld xmlns:p="http://schemas.openxmlformats.org/presentationml/2006/main">
  <p:cSld>
    <p:bg>
      <p:bgPr>
        <a:solidFill xmlns:a="http://schemas.openxmlformats.org/drawingml/2006/main">
          <a:srgbClr val="F9FA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239ABAA-516A-4416-99D6-2C6B3669781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77DD68-5348-4186-A1E2-5DE66EAE9D90}"/>
              </a:ext>
            </a:extLst>
          </p:cNvPr>
          <p:cNvSpPr>
            <a:spLocks xmlns:a="http://schemas.openxmlformats.org/drawingml/2006/main" noGrp="1"/>
          </p:cNvSpPr>
          <p:nvPr/>
        </p:nvSpPr>
        <p:spPr>
          <a:xfrm xmlns:a="http://schemas.openxmlformats.org/drawingml/2006/main">
            <a:off x="685800" y="523875"/>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9232A"/>
                </a:solidFill>
              </a:defRPr>
            </a:defPPr>
            <a:lvl1pPr>
              <a:defRPr sz="2925" b="1">
                <a:solidFill>
                  <a:srgbClr val="19232A"/>
                </a:solidFill>
              </a:defRPr>
            </a:lvl1pPr>
            <a:lvl2pPr>
              <a:defRPr sz="2925" b="1">
                <a:solidFill>
                  <a:srgbClr val="19232A"/>
                </a:solidFill>
              </a:defRPr>
            </a:lvl2pPr>
            <a:lvl3pPr>
              <a:defRPr sz="2925" b="1">
                <a:solidFill>
                  <a:srgbClr val="19232A"/>
                </a:solidFill>
              </a:defRPr>
            </a:lvl3pPr>
            <a:lvl4pPr>
              <a:defRPr sz="2925" b="1">
                <a:solidFill>
                  <a:srgbClr val="19232A"/>
                </a:solidFill>
              </a:defRPr>
            </a:lvl4pPr>
            <a:lvl5pPr>
              <a:defRPr sz="2925" b="1">
                <a:solidFill>
                  <a:srgbClr val="19232A"/>
                </a:solidFill>
              </a:defRPr>
            </a:lvl5pPr>
            <a:lvl6pPr>
              <a:defRPr sz="2925" b="1">
                <a:solidFill>
                  <a:srgbClr val="19232A"/>
                </a:solidFill>
              </a:defRPr>
            </a:lvl6pPr>
            <a:lvl7pPr>
              <a:defRPr sz="2925" b="1">
                <a:solidFill>
                  <a:srgbClr val="19232A"/>
                </a:solidFill>
              </a:defRPr>
            </a:lvl7pPr>
            <a:lvl8pPr>
              <a:defRPr sz="2925" b="1">
                <a:solidFill>
                  <a:srgbClr val="19232A"/>
                </a:solidFill>
              </a:defRPr>
            </a:lvl8pPr>
            <a:lvl9pPr>
              <a:defRPr sz="2925" b="1">
                <a:solidFill>
                  <a:srgbClr val="19232A"/>
                </a:solidFill>
              </a:defRPr>
            </a:lvl9pPr>
          </a:lstStyle>
          <a:p xmlns:a="http://schemas.openxmlformats.org/drawingml/2006/main">
            <a:pPr>
              <a:defRPr sz="2925" b="1">
                <a:solidFill>
                  <a:srgbClr val="19232A"/>
                </a:solidFill>
              </a:defRPr>
            </a:pPr>
            <a:r>
              <a:rPr sz="2925" b="1">
                <a:solidFill>
                  <a:srgbClr val="19232A"/>
                </a:solidFill>
              </a:rPr>
              <a:t>Next study and faculty decision</a:t>
            </a:r>
          </a:p>
        </p:txBody>
      </p:sp>
      <p:sp>
        <p:nvSpPr>
          <p:cNvPr id="3" name="">
            <a:extLst xmlns:a="http://schemas.openxmlformats.org/drawingml/2006/main">
              <a:ext uri="{FF2B5EF4-FFF2-40B4-BE49-F238E27FC236}">
                <a16:creationId xmlns:a16="http://schemas.microsoft.com/office/drawing/2014/main" id="{0CF7C8AF-E997-49CC-B154-30B88D7A8A45}"/>
              </a:ext>
            </a:extLst>
          </p:cNvPr>
          <p:cNvSpPr>
            <a:spLocks xmlns:a="http://schemas.openxmlformats.org/drawingml/2006/main" noGrp="1"/>
          </p:cNvSpPr>
          <p:nvPr/>
        </p:nvSpPr>
        <p:spPr>
          <a:xfrm xmlns:a="http://schemas.openxmlformats.org/drawingml/2006/main">
            <a:off x="685800" y="1352550"/>
            <a:ext cx="1082040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3DC064-682A-49DC-8D09-EDED9359232D}"/>
              </a:ext>
            </a:extLst>
          </p:cNvPr>
          <p:cNvSpPr>
            <a:spLocks xmlns:a="http://schemas.openxmlformats.org/drawingml/2006/main" noGrp="1"/>
          </p:cNvSpPr>
          <p:nvPr/>
        </p:nvSpPr>
        <p:spPr>
          <a:xfrm xmlns:a="http://schemas.openxmlformats.org/drawingml/2006/main">
            <a:off x="685800" y="64389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B5961"/>
                </a:solidFill>
              </a:defRPr>
            </a:defPPr>
            <a:lvl1pPr>
              <a:defRPr sz="1125" b="0">
                <a:solidFill>
                  <a:srgbClr val="4B5961"/>
                </a:solidFill>
              </a:defRPr>
            </a:lvl1pPr>
            <a:lvl2pPr>
              <a:defRPr sz="1125" b="0">
                <a:solidFill>
                  <a:srgbClr val="4B5961"/>
                </a:solidFill>
              </a:defRPr>
            </a:lvl2pPr>
            <a:lvl3pPr>
              <a:defRPr sz="1125" b="0">
                <a:solidFill>
                  <a:srgbClr val="4B5961"/>
                </a:solidFill>
              </a:defRPr>
            </a:lvl3pPr>
            <a:lvl4pPr>
              <a:defRPr sz="1125" b="0">
                <a:solidFill>
                  <a:srgbClr val="4B5961"/>
                </a:solidFill>
              </a:defRPr>
            </a:lvl4pPr>
            <a:lvl5pPr>
              <a:defRPr sz="1125" b="0">
                <a:solidFill>
                  <a:srgbClr val="4B5961"/>
                </a:solidFill>
              </a:defRPr>
            </a:lvl5pPr>
            <a:lvl6pPr>
              <a:defRPr sz="1125" b="0">
                <a:solidFill>
                  <a:srgbClr val="4B5961"/>
                </a:solidFill>
              </a:defRPr>
            </a:lvl6pPr>
            <a:lvl7pPr>
              <a:defRPr sz="1125" b="0">
                <a:solidFill>
                  <a:srgbClr val="4B5961"/>
                </a:solidFill>
              </a:defRPr>
            </a:lvl7pPr>
            <a:lvl8pPr>
              <a:defRPr sz="1125" b="0">
                <a:solidFill>
                  <a:srgbClr val="4B5961"/>
                </a:solidFill>
              </a:defRPr>
            </a:lvl8pPr>
            <a:lvl9pPr>
              <a:defRPr sz="1125" b="0">
                <a:solidFill>
                  <a:srgbClr val="4B5961"/>
                </a:solidFill>
              </a:defRPr>
            </a:lvl9pPr>
          </a:lstStyle>
          <a:p xmlns:a="http://schemas.openxmlformats.org/drawingml/2006/main">
            <a:pPr>
              <a:defRPr sz="1125" b="0">
                <a:solidFill>
                  <a:srgbClr val="4B5961"/>
                </a:solidFill>
              </a:defRPr>
            </a:pPr>
            <a:r>
              <a:rPr sz="1125" b="0">
                <a:solidFill>
                  <a:srgbClr val="4B5961"/>
                </a:solidFill>
              </a:rPr>
              <a:t>B4  |  First review  |  9/9</a:t>
            </a:r>
          </a:p>
        </p:txBody>
      </p:sp>
      <p:sp>
        <p:nvSpPr>
          <p:cNvPr id="5" name="">
            <a:extLst xmlns:a="http://schemas.openxmlformats.org/drawingml/2006/main">
              <a:ext uri="{FF2B5EF4-FFF2-40B4-BE49-F238E27FC236}">
                <a16:creationId xmlns:a16="http://schemas.microsoft.com/office/drawing/2014/main" id="{02FCCE4F-EBEA-4657-BF20-34EF8C8714DC}"/>
              </a:ext>
            </a:extLst>
          </p:cNvPr>
          <p:cNvSpPr>
            <a:spLocks xmlns:a="http://schemas.openxmlformats.org/drawingml/2006/main" noGrp="1"/>
          </p:cNvSpPr>
          <p:nvPr/>
        </p:nvSpPr>
        <p:spPr>
          <a:xfrm xmlns:a="http://schemas.openxmlformats.org/drawingml/2006/main">
            <a:off x="723900" y="1943100"/>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E44B95-2E55-4057-8DBE-055F08D42C15}"/>
              </a:ext>
            </a:extLst>
          </p:cNvPr>
          <p:cNvSpPr>
            <a:spLocks xmlns:a="http://schemas.openxmlformats.org/drawingml/2006/main" noGrp="1"/>
          </p:cNvSpPr>
          <p:nvPr/>
        </p:nvSpPr>
        <p:spPr>
          <a:xfrm xmlns:a="http://schemas.openxmlformats.org/drawingml/2006/main">
            <a:off x="1000125" y="18478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Instrument per-client queue state and build one conservative policy.</a:t>
            </a:r>
          </a:p>
        </p:txBody>
      </p:sp>
      <p:sp>
        <p:nvSpPr>
          <p:cNvPr id="7" name="">
            <a:extLst xmlns:a="http://schemas.openxmlformats.org/drawingml/2006/main">
              <a:ext uri="{FF2B5EF4-FFF2-40B4-BE49-F238E27FC236}">
                <a16:creationId xmlns:a16="http://schemas.microsoft.com/office/drawing/2014/main" id="{208A2A55-5DE5-4C34-A27F-E6AA897DA32B}"/>
              </a:ext>
            </a:extLst>
          </p:cNvPr>
          <p:cNvSpPr>
            <a:spLocks xmlns:a="http://schemas.openxmlformats.org/drawingml/2006/main" noGrp="1"/>
          </p:cNvSpPr>
          <p:nvPr/>
        </p:nvSpPr>
        <p:spPr>
          <a:xfrm xmlns:a="http://schemas.openxmlformats.org/drawingml/2006/main">
            <a:off x="723900" y="2867025"/>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4E4BFC-2C0C-4764-8AF5-672998D67FF3}"/>
              </a:ext>
            </a:extLst>
          </p:cNvPr>
          <p:cNvSpPr>
            <a:spLocks xmlns:a="http://schemas.openxmlformats.org/drawingml/2006/main" noGrp="1"/>
          </p:cNvSpPr>
          <p:nvPr/>
        </p:nvSpPr>
        <p:spPr>
          <a:xfrm xmlns:a="http://schemas.openxmlformats.org/drawingml/2006/main">
            <a:off x="1000125" y="277177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Compare with monitoring-only and Mosquitto's native limit.</a:t>
            </a:r>
          </a:p>
        </p:txBody>
      </p:sp>
      <p:sp>
        <p:nvSpPr>
          <p:cNvPr id="9" name="">
            <a:extLst xmlns:a="http://schemas.openxmlformats.org/drawingml/2006/main">
              <a:ext uri="{FF2B5EF4-FFF2-40B4-BE49-F238E27FC236}">
                <a16:creationId xmlns:a16="http://schemas.microsoft.com/office/drawing/2014/main" id="{63DBA333-E970-45F4-A608-BFE8863FFB90}"/>
              </a:ext>
            </a:extLst>
          </p:cNvPr>
          <p:cNvSpPr>
            <a:spLocks xmlns:a="http://schemas.openxmlformats.org/drawingml/2006/main" noGrp="1"/>
          </p:cNvSpPr>
          <p:nvPr/>
        </p:nvSpPr>
        <p:spPr>
          <a:xfrm xmlns:a="http://schemas.openxmlformats.org/drawingml/2006/main">
            <a:off x="723900" y="3790950"/>
            <a:ext cx="85725" cy="85725"/>
          </a:xfrm>
          <a:prstGeom xmlns:a="http://schemas.openxmlformats.org/drawingml/2006/main" prst="rect">
            <a:avLst/>
          </a:prstGeom>
          <a:solidFill xmlns:a="http://schemas.openxmlformats.org/drawingml/2006/main">
            <a:srgbClr val="0B76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D3489F1-2366-4848-A9D7-049095E1FB80}"/>
              </a:ext>
            </a:extLst>
          </p:cNvPr>
          <p:cNvSpPr>
            <a:spLocks xmlns:a="http://schemas.openxmlformats.org/drawingml/2006/main" noGrp="1"/>
          </p:cNvSpPr>
          <p:nvPr/>
        </p:nvSpPr>
        <p:spPr>
          <a:xfrm xmlns:a="http://schemas.openxmlformats.org/drawingml/2006/main">
            <a:off x="1000125" y="36957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9232A"/>
                </a:solidFill>
              </a:defRPr>
            </a:defPPr>
            <a:lvl1pPr>
              <a:defRPr sz="1950" b="0">
                <a:solidFill>
                  <a:srgbClr val="19232A"/>
                </a:solidFill>
              </a:defRPr>
            </a:lvl1pPr>
            <a:lvl2pPr>
              <a:defRPr sz="1950" b="0">
                <a:solidFill>
                  <a:srgbClr val="19232A"/>
                </a:solidFill>
              </a:defRPr>
            </a:lvl2pPr>
            <a:lvl3pPr>
              <a:defRPr sz="1950" b="0">
                <a:solidFill>
                  <a:srgbClr val="19232A"/>
                </a:solidFill>
              </a:defRPr>
            </a:lvl3pPr>
            <a:lvl4pPr>
              <a:defRPr sz="1950" b="0">
                <a:solidFill>
                  <a:srgbClr val="19232A"/>
                </a:solidFill>
              </a:defRPr>
            </a:lvl4pPr>
            <a:lvl5pPr>
              <a:defRPr sz="1950" b="0">
                <a:solidFill>
                  <a:srgbClr val="19232A"/>
                </a:solidFill>
              </a:defRPr>
            </a:lvl5pPr>
            <a:lvl6pPr>
              <a:defRPr sz="1950" b="0">
                <a:solidFill>
                  <a:srgbClr val="19232A"/>
                </a:solidFill>
              </a:defRPr>
            </a:lvl6pPr>
            <a:lvl7pPr>
              <a:defRPr sz="1950" b="0">
                <a:solidFill>
                  <a:srgbClr val="19232A"/>
                </a:solidFill>
              </a:defRPr>
            </a:lvl7pPr>
            <a:lvl8pPr>
              <a:defRPr sz="1950" b="0">
                <a:solidFill>
                  <a:srgbClr val="19232A"/>
                </a:solidFill>
              </a:defRPr>
            </a:lvl8pPr>
            <a:lvl9pPr>
              <a:defRPr sz="1950" b="0">
                <a:solidFill>
                  <a:srgbClr val="19232A"/>
                </a:solidFill>
              </a:defRPr>
            </a:lvl9pPr>
          </a:lstStyle>
          <a:p xmlns:a="http://schemas.openxmlformats.org/drawingml/2006/main">
            <a:pPr>
              <a:defRPr sz="1950" b="0">
                <a:solidFill>
                  <a:srgbClr val="19232A"/>
                </a:solidFill>
              </a:defRPr>
            </a:pPr>
            <a:r>
              <a:rPr sz="1950" b="0">
                <a:solidFill>
                  <a:srgbClr val="19232A"/>
                </a:solidFill>
              </a:rPr>
              <a:t>Measure delivery, false interventions, CPU, memory, and latency.</a:t>
            </a:r>
          </a:p>
        </p:txBody>
      </p:sp>
      <p:sp>
        <p:nvSpPr>
          <p:cNvPr id="11" name="">
            <a:extLst xmlns:a="http://schemas.openxmlformats.org/drawingml/2006/main">
              <a:ext uri="{FF2B5EF4-FFF2-40B4-BE49-F238E27FC236}">
                <a16:creationId xmlns:a16="http://schemas.microsoft.com/office/drawing/2014/main" id="{E5F8E76F-5974-4857-8135-399CD7264269}"/>
              </a:ext>
            </a:extLst>
          </p:cNvPr>
          <p:cNvSpPr>
            <a:spLocks xmlns:a="http://schemas.openxmlformats.org/drawingml/2006/main" noGrp="1"/>
          </p:cNvSpPr>
          <p:nvPr/>
        </p:nvSpPr>
        <p:spPr>
          <a:xfrm xmlns:a="http://schemas.openxmlformats.org/drawingml/2006/main">
            <a:off x="762000" y="4857750"/>
            <a:ext cx="10382250" cy="19050"/>
          </a:xfrm>
          <a:prstGeom xmlns:a="http://schemas.openxmlformats.org/drawingml/2006/main" prst="rect">
            <a:avLst/>
          </a:prstGeom>
          <a:solidFill xmlns:a="http://schemas.openxmlformats.org/drawingml/2006/main">
            <a:srgbClr val="D3DA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2C1A405-29BF-40C5-9CC8-6E1CFE5CD511}"/>
              </a:ext>
            </a:extLst>
          </p:cNvPr>
          <p:cNvSpPr>
            <a:spLocks xmlns:a="http://schemas.openxmlformats.org/drawingml/2006/main" noGrp="1"/>
          </p:cNvSpPr>
          <p:nvPr/>
        </p:nvSpPr>
        <p:spPr>
          <a:xfrm xmlns:a="http://schemas.openxmlformats.org/drawingml/2006/main">
            <a:off x="762000" y="5172075"/>
            <a:ext cx="10382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B766D"/>
                </a:solidFill>
              </a:defRPr>
            </a:defPPr>
            <a:lvl1pPr>
              <a:defRPr sz="1875" b="1">
                <a:solidFill>
                  <a:srgbClr val="0B766D"/>
                </a:solidFill>
              </a:defRPr>
            </a:lvl1pPr>
            <a:lvl2pPr>
              <a:defRPr sz="1875" b="1">
                <a:solidFill>
                  <a:srgbClr val="0B766D"/>
                </a:solidFill>
              </a:defRPr>
            </a:lvl2pPr>
            <a:lvl3pPr>
              <a:defRPr sz="1875" b="1">
                <a:solidFill>
                  <a:srgbClr val="0B766D"/>
                </a:solidFill>
              </a:defRPr>
            </a:lvl3pPr>
            <a:lvl4pPr>
              <a:defRPr sz="1875" b="1">
                <a:solidFill>
                  <a:srgbClr val="0B766D"/>
                </a:solidFill>
              </a:defRPr>
            </a:lvl4pPr>
            <a:lvl5pPr>
              <a:defRPr sz="1875" b="1">
                <a:solidFill>
                  <a:srgbClr val="0B766D"/>
                </a:solidFill>
              </a:defRPr>
            </a:lvl5pPr>
            <a:lvl6pPr>
              <a:defRPr sz="1875" b="1">
                <a:solidFill>
                  <a:srgbClr val="0B766D"/>
                </a:solidFill>
              </a:defRPr>
            </a:lvl6pPr>
            <a:lvl7pPr>
              <a:defRPr sz="1875" b="1">
                <a:solidFill>
                  <a:srgbClr val="0B766D"/>
                </a:solidFill>
              </a:defRPr>
            </a:lvl7pPr>
            <a:lvl8pPr>
              <a:defRPr sz="1875" b="1">
                <a:solidFill>
                  <a:srgbClr val="0B766D"/>
                </a:solidFill>
              </a:defRPr>
            </a:lvl8pPr>
            <a:lvl9pPr>
              <a:defRPr sz="1875" b="1">
                <a:solidFill>
                  <a:srgbClr val="0B766D"/>
                </a:solidFill>
              </a:defRPr>
            </a:lvl9pPr>
          </a:lstStyle>
          <a:p xmlns:a="http://schemas.openxmlformats.org/drawingml/2006/main">
            <a:pPr>
              <a:defRPr sz="1875" b="1">
                <a:solidFill>
                  <a:srgbClr val="0B766D"/>
                </a:solidFill>
              </a:defRPr>
            </a:pPr>
            <a:r>
              <a:rPr sz="1875" b="1">
                <a:solidFill>
                  <a:srgbClr val="0B766D"/>
                </a:solidFill>
              </a:rPr>
              <a:t>Faculty question: Is persistent-session pressure the right first category?</a:t>
            </a:r>
          </a:p>
        </p:txBody>
      </p:sp>
    </p:spTree>
    <p:extLst>
      <p:ext uri="{BB962C8B-B14F-4D97-AF65-F5344CB8AC3E}">
        <p14:creationId xmlns:p14="http://schemas.microsoft.com/office/powerpoint/2010/main" val="1361975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2026-10-18T08:34:22.2910000Z</dcterms:created>
  <dcterms:modified xsi:type="dcterms:W3CDTF">2026-10-18T08:34:22.2910000Z</dcterms:modified>
</coreProperties>
</file>